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3" r:id="rId2"/>
  </p:sldMasterIdLst>
  <p:sldIdLst>
    <p:sldId id="257" r:id="rId3"/>
    <p:sldId id="259" r:id="rId4"/>
    <p:sldId id="260" r:id="rId5"/>
    <p:sldId id="274" r:id="rId6"/>
    <p:sldId id="275" r:id="rId7"/>
    <p:sldId id="261" r:id="rId8"/>
    <p:sldId id="262" r:id="rId9"/>
    <p:sldId id="276" r:id="rId10"/>
    <p:sldId id="277" r:id="rId11"/>
    <p:sldId id="265" r:id="rId12"/>
    <p:sldId id="278" r:id="rId13"/>
    <p:sldId id="266" r:id="rId14"/>
    <p:sldId id="281" r:id="rId15"/>
    <p:sldId id="267" r:id="rId16"/>
    <p:sldId id="268" r:id="rId17"/>
    <p:sldId id="282" r:id="rId18"/>
    <p:sldId id="279" r:id="rId19"/>
    <p:sldId id="271" r:id="rId20"/>
    <p:sldId id="280" r:id="rId21"/>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1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5" autoAdjust="0"/>
    <p:restoredTop sz="94702"/>
  </p:normalViewPr>
  <p:slideViewPr>
    <p:cSldViewPr snapToGrid="0" snapToObjects="1">
      <p:cViewPr varScale="1">
        <p:scale>
          <a:sx n="57" d="100"/>
          <a:sy n="57" d="100"/>
        </p:scale>
        <p:origin x="108" y="21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CCD7AF-9031-4937-B5B2-06771CE5A54C}"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00157561-2D38-4966-8580-17C045A5DDFF}">
      <dgm:prSet/>
      <dgm:spPr/>
      <dgm:t>
        <a:bodyPr/>
        <a:lstStyle/>
        <a:p>
          <a:r>
            <a:rPr lang="es-CL"/>
            <a:t>Introducción</a:t>
          </a:r>
          <a:endParaRPr lang="en-US"/>
        </a:p>
      </dgm:t>
    </dgm:pt>
    <dgm:pt modelId="{C0D010C0-AD49-4AE8-AC2F-52DED8A2003C}" type="parTrans" cxnId="{7B077918-F4A2-420B-92D3-DAFE845DAB90}">
      <dgm:prSet/>
      <dgm:spPr/>
      <dgm:t>
        <a:bodyPr/>
        <a:lstStyle/>
        <a:p>
          <a:endParaRPr lang="en-US"/>
        </a:p>
      </dgm:t>
    </dgm:pt>
    <dgm:pt modelId="{FC7E00D4-5690-43CE-B05E-8FDEE988C3B5}" type="sibTrans" cxnId="{7B077918-F4A2-420B-92D3-DAFE845DAB90}">
      <dgm:prSet/>
      <dgm:spPr/>
      <dgm:t>
        <a:bodyPr/>
        <a:lstStyle/>
        <a:p>
          <a:endParaRPr lang="en-US"/>
        </a:p>
      </dgm:t>
    </dgm:pt>
    <dgm:pt modelId="{777A0907-E075-4C15-AC0C-7C9FB6B909D9}">
      <dgm:prSet/>
      <dgm:spPr/>
      <dgm:t>
        <a:bodyPr/>
        <a:lstStyle/>
        <a:p>
          <a:r>
            <a:rPr lang="es-CL"/>
            <a:t>Servicio seleccionado</a:t>
          </a:r>
          <a:endParaRPr lang="en-US"/>
        </a:p>
      </dgm:t>
    </dgm:pt>
    <dgm:pt modelId="{7DEA71E1-97C1-4447-BA1E-024FCA126DDB}" type="parTrans" cxnId="{D3C3880F-CC14-45DA-95B7-41F347187FE2}">
      <dgm:prSet/>
      <dgm:spPr/>
      <dgm:t>
        <a:bodyPr/>
        <a:lstStyle/>
        <a:p>
          <a:endParaRPr lang="en-US"/>
        </a:p>
      </dgm:t>
    </dgm:pt>
    <dgm:pt modelId="{7316F3C4-C269-4C81-8DC8-FCA087975C71}" type="sibTrans" cxnId="{D3C3880F-CC14-45DA-95B7-41F347187FE2}">
      <dgm:prSet/>
      <dgm:spPr/>
      <dgm:t>
        <a:bodyPr/>
        <a:lstStyle/>
        <a:p>
          <a:endParaRPr lang="en-US"/>
        </a:p>
      </dgm:t>
    </dgm:pt>
    <dgm:pt modelId="{C585D132-02F7-4BB5-A957-8DEF34D95AD9}">
      <dgm:prSet/>
      <dgm:spPr/>
      <dgm:t>
        <a:bodyPr/>
        <a:lstStyle/>
        <a:p>
          <a:r>
            <a:rPr lang="es-CL"/>
            <a:t>Construcción de la variable</a:t>
          </a:r>
          <a:endParaRPr lang="en-US"/>
        </a:p>
      </dgm:t>
    </dgm:pt>
    <dgm:pt modelId="{A3DE9EAE-D612-4B8E-A0F5-7A0C12206A00}" type="parTrans" cxnId="{C9D4177D-600F-4846-B174-2518358797F1}">
      <dgm:prSet/>
      <dgm:spPr/>
      <dgm:t>
        <a:bodyPr/>
        <a:lstStyle/>
        <a:p>
          <a:endParaRPr lang="en-US"/>
        </a:p>
      </dgm:t>
    </dgm:pt>
    <dgm:pt modelId="{BBFB2937-CC69-48F9-A08C-791C9A59BBC9}" type="sibTrans" cxnId="{C9D4177D-600F-4846-B174-2518358797F1}">
      <dgm:prSet/>
      <dgm:spPr/>
      <dgm:t>
        <a:bodyPr/>
        <a:lstStyle/>
        <a:p>
          <a:endParaRPr lang="en-US"/>
        </a:p>
      </dgm:t>
    </dgm:pt>
    <dgm:pt modelId="{67164281-3629-4F55-8656-CA1EB16F9907}">
      <dgm:prSet/>
      <dgm:spPr/>
      <dgm:t>
        <a:bodyPr/>
        <a:lstStyle/>
        <a:p>
          <a:r>
            <a:rPr lang="es-CL"/>
            <a:t>Análisis exploratorio</a:t>
          </a:r>
          <a:endParaRPr lang="en-US"/>
        </a:p>
      </dgm:t>
    </dgm:pt>
    <dgm:pt modelId="{8972985F-369C-4ECB-B5CB-CC8FFE370E51}" type="parTrans" cxnId="{8B1B21A6-615B-4C70-B829-E842CF3009D1}">
      <dgm:prSet/>
      <dgm:spPr/>
      <dgm:t>
        <a:bodyPr/>
        <a:lstStyle/>
        <a:p>
          <a:endParaRPr lang="en-US"/>
        </a:p>
      </dgm:t>
    </dgm:pt>
    <dgm:pt modelId="{942851ED-9CB2-4B2B-A836-35CF60C03A59}" type="sibTrans" cxnId="{8B1B21A6-615B-4C70-B829-E842CF3009D1}">
      <dgm:prSet/>
      <dgm:spPr/>
      <dgm:t>
        <a:bodyPr/>
        <a:lstStyle/>
        <a:p>
          <a:endParaRPr lang="en-US"/>
        </a:p>
      </dgm:t>
    </dgm:pt>
    <dgm:pt modelId="{A8BE7327-94FA-43EE-84E9-20D3A20E1359}">
      <dgm:prSet/>
      <dgm:spPr/>
      <dgm:t>
        <a:bodyPr/>
        <a:lstStyle/>
        <a:p>
          <a:r>
            <a:rPr lang="es-CL"/>
            <a:t>Modelo de dos partes</a:t>
          </a:r>
          <a:endParaRPr lang="en-US"/>
        </a:p>
      </dgm:t>
    </dgm:pt>
    <dgm:pt modelId="{3B6CEDEA-6C5F-4DE7-AEEB-1A66F5A01547}" type="parTrans" cxnId="{5A2722CD-3184-457C-995A-549E3FFCEBDA}">
      <dgm:prSet/>
      <dgm:spPr/>
      <dgm:t>
        <a:bodyPr/>
        <a:lstStyle/>
        <a:p>
          <a:endParaRPr lang="en-US"/>
        </a:p>
      </dgm:t>
    </dgm:pt>
    <dgm:pt modelId="{186DA491-B440-4DDD-9F95-B42725C5B427}" type="sibTrans" cxnId="{5A2722CD-3184-457C-995A-549E3FFCEBDA}">
      <dgm:prSet/>
      <dgm:spPr/>
      <dgm:t>
        <a:bodyPr/>
        <a:lstStyle/>
        <a:p>
          <a:endParaRPr lang="en-US"/>
        </a:p>
      </dgm:t>
    </dgm:pt>
    <dgm:pt modelId="{480B95A2-6B32-44D8-ACAB-6C371DA84FCE}">
      <dgm:prSet/>
      <dgm:spPr/>
      <dgm:t>
        <a:bodyPr/>
        <a:lstStyle/>
        <a:p>
          <a:r>
            <a:rPr lang="es-CL"/>
            <a:t>Modelo Logit</a:t>
          </a:r>
          <a:endParaRPr lang="en-US"/>
        </a:p>
      </dgm:t>
    </dgm:pt>
    <dgm:pt modelId="{B1CBAA91-7D09-4BEA-9DEE-657122EC8A12}" type="parTrans" cxnId="{ADAD8BE5-9F40-40D4-86F9-A90A1EF8A52D}">
      <dgm:prSet/>
      <dgm:spPr/>
      <dgm:t>
        <a:bodyPr/>
        <a:lstStyle/>
        <a:p>
          <a:endParaRPr lang="en-US"/>
        </a:p>
      </dgm:t>
    </dgm:pt>
    <dgm:pt modelId="{FDEC1FA5-6520-42E1-B55F-3CDA2634332C}" type="sibTrans" cxnId="{ADAD8BE5-9F40-40D4-86F9-A90A1EF8A52D}">
      <dgm:prSet/>
      <dgm:spPr/>
      <dgm:t>
        <a:bodyPr/>
        <a:lstStyle/>
        <a:p>
          <a:endParaRPr lang="en-US"/>
        </a:p>
      </dgm:t>
    </dgm:pt>
    <dgm:pt modelId="{64886307-BFBE-41C1-AF17-B80CD8F4C2B2}">
      <dgm:prSet/>
      <dgm:spPr/>
      <dgm:t>
        <a:bodyPr/>
        <a:lstStyle/>
        <a:p>
          <a:r>
            <a:rPr lang="es-CL"/>
            <a:t>Modelo de Regresión Lineal</a:t>
          </a:r>
          <a:endParaRPr lang="en-US"/>
        </a:p>
      </dgm:t>
    </dgm:pt>
    <dgm:pt modelId="{8327A072-1A9B-465C-BFEF-7AAF1F76A961}" type="parTrans" cxnId="{C89B8764-AED9-4E91-9C9A-7D946D3CA4AA}">
      <dgm:prSet/>
      <dgm:spPr/>
      <dgm:t>
        <a:bodyPr/>
        <a:lstStyle/>
        <a:p>
          <a:endParaRPr lang="en-US"/>
        </a:p>
      </dgm:t>
    </dgm:pt>
    <dgm:pt modelId="{F0F2EB8F-6800-47C1-8B80-C91E08C193C5}" type="sibTrans" cxnId="{C89B8764-AED9-4E91-9C9A-7D946D3CA4AA}">
      <dgm:prSet/>
      <dgm:spPr/>
      <dgm:t>
        <a:bodyPr/>
        <a:lstStyle/>
        <a:p>
          <a:endParaRPr lang="en-US"/>
        </a:p>
      </dgm:t>
    </dgm:pt>
    <dgm:pt modelId="{51A132CB-2B41-4421-8C36-353F43507026}">
      <dgm:prSet/>
      <dgm:spPr/>
      <dgm:t>
        <a:bodyPr/>
        <a:lstStyle/>
        <a:p>
          <a:r>
            <a:rPr lang="es-CL"/>
            <a:t>Variable generada: Gasto esperado</a:t>
          </a:r>
          <a:endParaRPr lang="en-US"/>
        </a:p>
      </dgm:t>
    </dgm:pt>
    <dgm:pt modelId="{AD838889-AD7B-41CA-8E4C-1A5509BAF63B}" type="parTrans" cxnId="{60B6EEF7-CC4D-4D95-A3DB-44B945236859}">
      <dgm:prSet/>
      <dgm:spPr/>
      <dgm:t>
        <a:bodyPr/>
        <a:lstStyle/>
        <a:p>
          <a:endParaRPr lang="en-US"/>
        </a:p>
      </dgm:t>
    </dgm:pt>
    <dgm:pt modelId="{CF9F9D05-0CBC-483D-A195-97A5192B5AEA}" type="sibTrans" cxnId="{60B6EEF7-CC4D-4D95-A3DB-44B945236859}">
      <dgm:prSet/>
      <dgm:spPr/>
      <dgm:t>
        <a:bodyPr/>
        <a:lstStyle/>
        <a:p>
          <a:endParaRPr lang="en-US"/>
        </a:p>
      </dgm:t>
    </dgm:pt>
    <dgm:pt modelId="{8D069A2A-741F-4478-9FFE-A9B69ECE4671}">
      <dgm:prSet/>
      <dgm:spPr/>
      <dgm:t>
        <a:bodyPr/>
        <a:lstStyle/>
        <a:p>
          <a:r>
            <a:rPr lang="es-CL"/>
            <a:t>Conclusiones</a:t>
          </a:r>
          <a:endParaRPr lang="en-US"/>
        </a:p>
      </dgm:t>
    </dgm:pt>
    <dgm:pt modelId="{2E29E250-7400-4FB3-A353-06C5FB78B894}" type="parTrans" cxnId="{A59E5E09-3038-421F-AABA-7428EC113EDB}">
      <dgm:prSet/>
      <dgm:spPr/>
      <dgm:t>
        <a:bodyPr/>
        <a:lstStyle/>
        <a:p>
          <a:endParaRPr lang="en-US"/>
        </a:p>
      </dgm:t>
    </dgm:pt>
    <dgm:pt modelId="{5C90D203-CF3F-4BBF-A9AB-709D026DBC25}" type="sibTrans" cxnId="{A59E5E09-3038-421F-AABA-7428EC113EDB}">
      <dgm:prSet/>
      <dgm:spPr/>
      <dgm:t>
        <a:bodyPr/>
        <a:lstStyle/>
        <a:p>
          <a:endParaRPr lang="en-US"/>
        </a:p>
      </dgm:t>
    </dgm:pt>
    <dgm:pt modelId="{2E4BB183-8B39-4C5C-BD24-3143720E49F4}" type="pres">
      <dgm:prSet presAssocID="{14CCD7AF-9031-4937-B5B2-06771CE5A54C}" presName="linear" presStyleCnt="0">
        <dgm:presLayoutVars>
          <dgm:animLvl val="lvl"/>
          <dgm:resizeHandles val="exact"/>
        </dgm:presLayoutVars>
      </dgm:prSet>
      <dgm:spPr/>
    </dgm:pt>
    <dgm:pt modelId="{19F5224F-6E9F-4DD0-8112-3B37C56878F0}" type="pres">
      <dgm:prSet presAssocID="{00157561-2D38-4966-8580-17C045A5DDFF}" presName="parentText" presStyleLbl="node1" presStyleIdx="0" presStyleCnt="7">
        <dgm:presLayoutVars>
          <dgm:chMax val="0"/>
          <dgm:bulletEnabled val="1"/>
        </dgm:presLayoutVars>
      </dgm:prSet>
      <dgm:spPr/>
    </dgm:pt>
    <dgm:pt modelId="{298D2FEA-3E9C-481A-AD29-7BA9186258F0}" type="pres">
      <dgm:prSet presAssocID="{FC7E00D4-5690-43CE-B05E-8FDEE988C3B5}" presName="spacer" presStyleCnt="0"/>
      <dgm:spPr/>
    </dgm:pt>
    <dgm:pt modelId="{87FEFA00-4964-4293-94F6-CD9356BA001E}" type="pres">
      <dgm:prSet presAssocID="{777A0907-E075-4C15-AC0C-7C9FB6B909D9}" presName="parentText" presStyleLbl="node1" presStyleIdx="1" presStyleCnt="7">
        <dgm:presLayoutVars>
          <dgm:chMax val="0"/>
          <dgm:bulletEnabled val="1"/>
        </dgm:presLayoutVars>
      </dgm:prSet>
      <dgm:spPr/>
    </dgm:pt>
    <dgm:pt modelId="{B1CE422B-F3E3-45A3-86E5-9368993DC466}" type="pres">
      <dgm:prSet presAssocID="{7316F3C4-C269-4C81-8DC8-FCA087975C71}" presName="spacer" presStyleCnt="0"/>
      <dgm:spPr/>
    </dgm:pt>
    <dgm:pt modelId="{E227AD49-19CD-41FD-A95C-DF67C373BCB9}" type="pres">
      <dgm:prSet presAssocID="{C585D132-02F7-4BB5-A957-8DEF34D95AD9}" presName="parentText" presStyleLbl="node1" presStyleIdx="2" presStyleCnt="7">
        <dgm:presLayoutVars>
          <dgm:chMax val="0"/>
          <dgm:bulletEnabled val="1"/>
        </dgm:presLayoutVars>
      </dgm:prSet>
      <dgm:spPr/>
    </dgm:pt>
    <dgm:pt modelId="{B1F657E3-2F08-4EC6-9869-415EE5F2B447}" type="pres">
      <dgm:prSet presAssocID="{BBFB2937-CC69-48F9-A08C-791C9A59BBC9}" presName="spacer" presStyleCnt="0"/>
      <dgm:spPr/>
    </dgm:pt>
    <dgm:pt modelId="{8974E0AD-DDBD-4F5E-8A3E-459F5C34236A}" type="pres">
      <dgm:prSet presAssocID="{67164281-3629-4F55-8656-CA1EB16F9907}" presName="parentText" presStyleLbl="node1" presStyleIdx="3" presStyleCnt="7">
        <dgm:presLayoutVars>
          <dgm:chMax val="0"/>
          <dgm:bulletEnabled val="1"/>
        </dgm:presLayoutVars>
      </dgm:prSet>
      <dgm:spPr/>
    </dgm:pt>
    <dgm:pt modelId="{710408AB-6639-437B-AF4A-1547C08C4D28}" type="pres">
      <dgm:prSet presAssocID="{942851ED-9CB2-4B2B-A836-35CF60C03A59}" presName="spacer" presStyleCnt="0"/>
      <dgm:spPr/>
    </dgm:pt>
    <dgm:pt modelId="{855DF5B5-B8B6-47AB-A27A-2A99BAF11F36}" type="pres">
      <dgm:prSet presAssocID="{A8BE7327-94FA-43EE-84E9-20D3A20E1359}" presName="parentText" presStyleLbl="node1" presStyleIdx="4" presStyleCnt="7">
        <dgm:presLayoutVars>
          <dgm:chMax val="0"/>
          <dgm:bulletEnabled val="1"/>
        </dgm:presLayoutVars>
      </dgm:prSet>
      <dgm:spPr/>
    </dgm:pt>
    <dgm:pt modelId="{500FF1CE-F41C-4ED1-A44B-96A399D41894}" type="pres">
      <dgm:prSet presAssocID="{A8BE7327-94FA-43EE-84E9-20D3A20E1359}" presName="childText" presStyleLbl="revTx" presStyleIdx="0" presStyleCnt="1">
        <dgm:presLayoutVars>
          <dgm:bulletEnabled val="1"/>
        </dgm:presLayoutVars>
      </dgm:prSet>
      <dgm:spPr/>
    </dgm:pt>
    <dgm:pt modelId="{523FB315-59BF-487B-9858-2714602BCB9A}" type="pres">
      <dgm:prSet presAssocID="{51A132CB-2B41-4421-8C36-353F43507026}" presName="parentText" presStyleLbl="node1" presStyleIdx="5" presStyleCnt="7">
        <dgm:presLayoutVars>
          <dgm:chMax val="0"/>
          <dgm:bulletEnabled val="1"/>
        </dgm:presLayoutVars>
      </dgm:prSet>
      <dgm:spPr/>
    </dgm:pt>
    <dgm:pt modelId="{76143252-B076-4181-8462-1B58A751DA0A}" type="pres">
      <dgm:prSet presAssocID="{CF9F9D05-0CBC-483D-A195-97A5192B5AEA}" presName="spacer" presStyleCnt="0"/>
      <dgm:spPr/>
    </dgm:pt>
    <dgm:pt modelId="{3139AA66-69BA-4222-BAAC-7F6FB736F397}" type="pres">
      <dgm:prSet presAssocID="{8D069A2A-741F-4478-9FFE-A9B69ECE4671}" presName="parentText" presStyleLbl="node1" presStyleIdx="6" presStyleCnt="7">
        <dgm:presLayoutVars>
          <dgm:chMax val="0"/>
          <dgm:bulletEnabled val="1"/>
        </dgm:presLayoutVars>
      </dgm:prSet>
      <dgm:spPr/>
    </dgm:pt>
  </dgm:ptLst>
  <dgm:cxnLst>
    <dgm:cxn modelId="{A59E5E09-3038-421F-AABA-7428EC113EDB}" srcId="{14CCD7AF-9031-4937-B5B2-06771CE5A54C}" destId="{8D069A2A-741F-4478-9FFE-A9B69ECE4671}" srcOrd="6" destOrd="0" parTransId="{2E29E250-7400-4FB3-A353-06C5FB78B894}" sibTransId="{5C90D203-CF3F-4BBF-A9AB-709D026DBC25}"/>
    <dgm:cxn modelId="{D3C3880F-CC14-45DA-95B7-41F347187FE2}" srcId="{14CCD7AF-9031-4937-B5B2-06771CE5A54C}" destId="{777A0907-E075-4C15-AC0C-7C9FB6B909D9}" srcOrd="1" destOrd="0" parTransId="{7DEA71E1-97C1-4447-BA1E-024FCA126DDB}" sibTransId="{7316F3C4-C269-4C81-8DC8-FCA087975C71}"/>
    <dgm:cxn modelId="{254F0B12-1414-4CFB-A668-C4169F5447EE}" type="presOf" srcId="{C585D132-02F7-4BB5-A957-8DEF34D95AD9}" destId="{E227AD49-19CD-41FD-A95C-DF67C373BCB9}" srcOrd="0" destOrd="0" presId="urn:microsoft.com/office/officeart/2005/8/layout/vList2"/>
    <dgm:cxn modelId="{7B077918-F4A2-420B-92D3-DAFE845DAB90}" srcId="{14CCD7AF-9031-4937-B5B2-06771CE5A54C}" destId="{00157561-2D38-4966-8580-17C045A5DDFF}" srcOrd="0" destOrd="0" parTransId="{C0D010C0-AD49-4AE8-AC2F-52DED8A2003C}" sibTransId="{FC7E00D4-5690-43CE-B05E-8FDEE988C3B5}"/>
    <dgm:cxn modelId="{4CD55728-CF27-4BFB-9B82-F333565E5C2C}" type="presOf" srcId="{64886307-BFBE-41C1-AF17-B80CD8F4C2B2}" destId="{500FF1CE-F41C-4ED1-A44B-96A399D41894}" srcOrd="0" destOrd="1" presId="urn:microsoft.com/office/officeart/2005/8/layout/vList2"/>
    <dgm:cxn modelId="{8813F63C-F0C2-41A8-BDF3-C88CFE797CBE}" type="presOf" srcId="{00157561-2D38-4966-8580-17C045A5DDFF}" destId="{19F5224F-6E9F-4DD0-8112-3B37C56878F0}" srcOrd="0" destOrd="0" presId="urn:microsoft.com/office/officeart/2005/8/layout/vList2"/>
    <dgm:cxn modelId="{C89B8764-AED9-4E91-9C9A-7D946D3CA4AA}" srcId="{A8BE7327-94FA-43EE-84E9-20D3A20E1359}" destId="{64886307-BFBE-41C1-AF17-B80CD8F4C2B2}" srcOrd="1" destOrd="0" parTransId="{8327A072-1A9B-465C-BFEF-7AAF1F76A961}" sibTransId="{F0F2EB8F-6800-47C1-8B80-C91E08C193C5}"/>
    <dgm:cxn modelId="{81137765-184D-4D6D-9C0C-14FA80ABBF4C}" type="presOf" srcId="{480B95A2-6B32-44D8-ACAB-6C371DA84FCE}" destId="{500FF1CE-F41C-4ED1-A44B-96A399D41894}" srcOrd="0" destOrd="0" presId="urn:microsoft.com/office/officeart/2005/8/layout/vList2"/>
    <dgm:cxn modelId="{1F58667B-1245-4DF8-82C1-E55C99253CE1}" type="presOf" srcId="{67164281-3629-4F55-8656-CA1EB16F9907}" destId="{8974E0AD-DDBD-4F5E-8A3E-459F5C34236A}" srcOrd="0" destOrd="0" presId="urn:microsoft.com/office/officeart/2005/8/layout/vList2"/>
    <dgm:cxn modelId="{C9D4177D-600F-4846-B174-2518358797F1}" srcId="{14CCD7AF-9031-4937-B5B2-06771CE5A54C}" destId="{C585D132-02F7-4BB5-A957-8DEF34D95AD9}" srcOrd="2" destOrd="0" parTransId="{A3DE9EAE-D612-4B8E-A0F5-7A0C12206A00}" sibTransId="{BBFB2937-CC69-48F9-A08C-791C9A59BBC9}"/>
    <dgm:cxn modelId="{241F4F82-C3B3-4180-B467-A2492B231B36}" type="presOf" srcId="{51A132CB-2B41-4421-8C36-353F43507026}" destId="{523FB315-59BF-487B-9858-2714602BCB9A}" srcOrd="0" destOrd="0" presId="urn:microsoft.com/office/officeart/2005/8/layout/vList2"/>
    <dgm:cxn modelId="{8F6D8998-E28F-41A4-94DB-3EB9AA8DB946}" type="presOf" srcId="{A8BE7327-94FA-43EE-84E9-20D3A20E1359}" destId="{855DF5B5-B8B6-47AB-A27A-2A99BAF11F36}" srcOrd="0" destOrd="0" presId="urn:microsoft.com/office/officeart/2005/8/layout/vList2"/>
    <dgm:cxn modelId="{8B1B21A6-615B-4C70-B829-E842CF3009D1}" srcId="{14CCD7AF-9031-4937-B5B2-06771CE5A54C}" destId="{67164281-3629-4F55-8656-CA1EB16F9907}" srcOrd="3" destOrd="0" parTransId="{8972985F-369C-4ECB-B5CB-CC8FFE370E51}" sibTransId="{942851ED-9CB2-4B2B-A836-35CF60C03A59}"/>
    <dgm:cxn modelId="{5A2722CD-3184-457C-995A-549E3FFCEBDA}" srcId="{14CCD7AF-9031-4937-B5B2-06771CE5A54C}" destId="{A8BE7327-94FA-43EE-84E9-20D3A20E1359}" srcOrd="4" destOrd="0" parTransId="{3B6CEDEA-6C5F-4DE7-AEEB-1A66F5A01547}" sibTransId="{186DA491-B440-4DDD-9F95-B42725C5B427}"/>
    <dgm:cxn modelId="{569F29E1-18C3-41DF-BCBF-5427C6658D70}" type="presOf" srcId="{14CCD7AF-9031-4937-B5B2-06771CE5A54C}" destId="{2E4BB183-8B39-4C5C-BD24-3143720E49F4}" srcOrd="0" destOrd="0" presId="urn:microsoft.com/office/officeart/2005/8/layout/vList2"/>
    <dgm:cxn modelId="{ADAD8BE5-9F40-40D4-86F9-A90A1EF8A52D}" srcId="{A8BE7327-94FA-43EE-84E9-20D3A20E1359}" destId="{480B95A2-6B32-44D8-ACAB-6C371DA84FCE}" srcOrd="0" destOrd="0" parTransId="{B1CBAA91-7D09-4BEA-9DEE-657122EC8A12}" sibTransId="{FDEC1FA5-6520-42E1-B55F-3CDA2634332C}"/>
    <dgm:cxn modelId="{B3F390E7-3798-40F7-85E3-3AF130ED6981}" type="presOf" srcId="{8D069A2A-741F-4478-9FFE-A9B69ECE4671}" destId="{3139AA66-69BA-4222-BAAC-7F6FB736F397}" srcOrd="0" destOrd="0" presId="urn:microsoft.com/office/officeart/2005/8/layout/vList2"/>
    <dgm:cxn modelId="{60B6EEF7-CC4D-4D95-A3DB-44B945236859}" srcId="{14CCD7AF-9031-4937-B5B2-06771CE5A54C}" destId="{51A132CB-2B41-4421-8C36-353F43507026}" srcOrd="5" destOrd="0" parTransId="{AD838889-AD7B-41CA-8E4C-1A5509BAF63B}" sibTransId="{CF9F9D05-0CBC-483D-A195-97A5192B5AEA}"/>
    <dgm:cxn modelId="{3F7540F8-8668-4F8F-8116-9181D08E3891}" type="presOf" srcId="{777A0907-E075-4C15-AC0C-7C9FB6B909D9}" destId="{87FEFA00-4964-4293-94F6-CD9356BA001E}" srcOrd="0" destOrd="0" presId="urn:microsoft.com/office/officeart/2005/8/layout/vList2"/>
    <dgm:cxn modelId="{730960E6-16F2-48BD-AA96-E1E87275B8BE}" type="presParOf" srcId="{2E4BB183-8B39-4C5C-BD24-3143720E49F4}" destId="{19F5224F-6E9F-4DD0-8112-3B37C56878F0}" srcOrd="0" destOrd="0" presId="urn:microsoft.com/office/officeart/2005/8/layout/vList2"/>
    <dgm:cxn modelId="{A55A10C3-2535-494E-A553-776D5C149A9E}" type="presParOf" srcId="{2E4BB183-8B39-4C5C-BD24-3143720E49F4}" destId="{298D2FEA-3E9C-481A-AD29-7BA9186258F0}" srcOrd="1" destOrd="0" presId="urn:microsoft.com/office/officeart/2005/8/layout/vList2"/>
    <dgm:cxn modelId="{80635C4B-C0F2-457B-AC33-0220E8F6447F}" type="presParOf" srcId="{2E4BB183-8B39-4C5C-BD24-3143720E49F4}" destId="{87FEFA00-4964-4293-94F6-CD9356BA001E}" srcOrd="2" destOrd="0" presId="urn:microsoft.com/office/officeart/2005/8/layout/vList2"/>
    <dgm:cxn modelId="{729C87F3-C7BF-492C-B2E1-1262669B79C6}" type="presParOf" srcId="{2E4BB183-8B39-4C5C-BD24-3143720E49F4}" destId="{B1CE422B-F3E3-45A3-86E5-9368993DC466}" srcOrd="3" destOrd="0" presId="urn:microsoft.com/office/officeart/2005/8/layout/vList2"/>
    <dgm:cxn modelId="{C52FE3CA-568E-462B-9560-6E7F279855AD}" type="presParOf" srcId="{2E4BB183-8B39-4C5C-BD24-3143720E49F4}" destId="{E227AD49-19CD-41FD-A95C-DF67C373BCB9}" srcOrd="4" destOrd="0" presId="urn:microsoft.com/office/officeart/2005/8/layout/vList2"/>
    <dgm:cxn modelId="{327E296A-1F36-4F4C-B0FA-19DA70F80D63}" type="presParOf" srcId="{2E4BB183-8B39-4C5C-BD24-3143720E49F4}" destId="{B1F657E3-2F08-4EC6-9869-415EE5F2B447}" srcOrd="5" destOrd="0" presId="urn:microsoft.com/office/officeart/2005/8/layout/vList2"/>
    <dgm:cxn modelId="{A2BFD38B-749B-48B9-AB3C-8DC7A51F60E9}" type="presParOf" srcId="{2E4BB183-8B39-4C5C-BD24-3143720E49F4}" destId="{8974E0AD-DDBD-4F5E-8A3E-459F5C34236A}" srcOrd="6" destOrd="0" presId="urn:microsoft.com/office/officeart/2005/8/layout/vList2"/>
    <dgm:cxn modelId="{258D3472-69DC-49FA-B40C-72DBE5B904CC}" type="presParOf" srcId="{2E4BB183-8B39-4C5C-BD24-3143720E49F4}" destId="{710408AB-6639-437B-AF4A-1547C08C4D28}" srcOrd="7" destOrd="0" presId="urn:microsoft.com/office/officeart/2005/8/layout/vList2"/>
    <dgm:cxn modelId="{792A90F5-7D77-42E8-8AA2-B8BD3DB0C8D8}" type="presParOf" srcId="{2E4BB183-8B39-4C5C-BD24-3143720E49F4}" destId="{855DF5B5-B8B6-47AB-A27A-2A99BAF11F36}" srcOrd="8" destOrd="0" presId="urn:microsoft.com/office/officeart/2005/8/layout/vList2"/>
    <dgm:cxn modelId="{32D55A6E-B014-405A-9E03-1413DE5BB9BE}" type="presParOf" srcId="{2E4BB183-8B39-4C5C-BD24-3143720E49F4}" destId="{500FF1CE-F41C-4ED1-A44B-96A399D41894}" srcOrd="9" destOrd="0" presId="urn:microsoft.com/office/officeart/2005/8/layout/vList2"/>
    <dgm:cxn modelId="{AF1F9314-2117-402A-A847-69350D86931A}" type="presParOf" srcId="{2E4BB183-8B39-4C5C-BD24-3143720E49F4}" destId="{523FB315-59BF-487B-9858-2714602BCB9A}" srcOrd="10" destOrd="0" presId="urn:microsoft.com/office/officeart/2005/8/layout/vList2"/>
    <dgm:cxn modelId="{22A6CD26-0C88-4846-8E25-96A33E176AC7}" type="presParOf" srcId="{2E4BB183-8B39-4C5C-BD24-3143720E49F4}" destId="{76143252-B076-4181-8462-1B58A751DA0A}" srcOrd="11" destOrd="0" presId="urn:microsoft.com/office/officeart/2005/8/layout/vList2"/>
    <dgm:cxn modelId="{4A7A36CF-F7AA-4F32-A10C-E1D77F7139FE}" type="presParOf" srcId="{2E4BB183-8B39-4C5C-BD24-3143720E49F4}" destId="{3139AA66-69BA-4222-BAAC-7F6FB736F397}"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0E13CC26-6207-4524-92C6-A621ED126A5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s-CL"/>
        </a:p>
      </dgm:t>
    </dgm:pt>
    <dgm:pt modelId="{0AE50D2A-39AB-4F1B-9CB9-F9714D1628CB}">
      <dgm:prSet phldrT="[Texto]" phldr="0" custT="1"/>
      <dgm:spPr/>
      <dgm:t>
        <a:bodyPr/>
        <a:lstStyle/>
        <a:p>
          <a:pPr algn="ctr"/>
          <a:r>
            <a:rPr lang="es-CL" sz="2000" dirty="0"/>
            <a:t>1. Selección del servicio</a:t>
          </a:r>
        </a:p>
      </dgm:t>
    </dgm:pt>
    <dgm:pt modelId="{656C54AE-B1D5-4F47-B332-AA31CC30FD7D}" type="parTrans" cxnId="{60F4153B-AF02-43C9-B90B-919128CBC762}">
      <dgm:prSet/>
      <dgm:spPr/>
      <dgm:t>
        <a:bodyPr/>
        <a:lstStyle/>
        <a:p>
          <a:endParaRPr lang="es-CL"/>
        </a:p>
      </dgm:t>
    </dgm:pt>
    <dgm:pt modelId="{940C6B63-9116-4AD3-A970-5A445B95FA35}" type="sibTrans" cxnId="{60F4153B-AF02-43C9-B90B-919128CBC762}">
      <dgm:prSet/>
      <dgm:spPr/>
      <dgm:t>
        <a:bodyPr/>
        <a:lstStyle/>
        <a:p>
          <a:endParaRPr lang="es-CL"/>
        </a:p>
      </dgm:t>
    </dgm:pt>
    <dgm:pt modelId="{185FC4C1-FD2E-49AF-B24A-D80A0CF927BF}">
      <dgm:prSet phldrT="[Texto]" phldr="0" custT="1"/>
      <dgm:spPr/>
      <dgm:t>
        <a:bodyPr/>
        <a:lstStyle/>
        <a:p>
          <a:pPr algn="ctr"/>
          <a:r>
            <a:rPr lang="es-CL" sz="2000" dirty="0"/>
            <a:t>2. Procesamiento de la EPF</a:t>
          </a:r>
        </a:p>
      </dgm:t>
    </dgm:pt>
    <dgm:pt modelId="{D89E7AE9-85ED-4A8E-B0F9-D1BD4C99FBC9}" type="parTrans" cxnId="{AAF97AF0-7EA0-45BE-B271-1AD4980482AA}">
      <dgm:prSet/>
      <dgm:spPr/>
      <dgm:t>
        <a:bodyPr/>
        <a:lstStyle/>
        <a:p>
          <a:endParaRPr lang="es-CL"/>
        </a:p>
      </dgm:t>
    </dgm:pt>
    <dgm:pt modelId="{8298B4AC-C325-49FD-AF0A-E01FD5BECD82}" type="sibTrans" cxnId="{AAF97AF0-7EA0-45BE-B271-1AD4980482AA}">
      <dgm:prSet/>
      <dgm:spPr/>
      <dgm:t>
        <a:bodyPr/>
        <a:lstStyle/>
        <a:p>
          <a:endParaRPr lang="es-CL"/>
        </a:p>
      </dgm:t>
    </dgm:pt>
    <dgm:pt modelId="{9146D6E8-00C0-48FC-A70B-21CDBB52281E}">
      <dgm:prSet phldrT="[Texto]" phldr="0" custT="1"/>
      <dgm:spPr/>
      <dgm:t>
        <a:bodyPr/>
        <a:lstStyle/>
        <a:p>
          <a:pPr algn="ctr"/>
          <a:r>
            <a:rPr lang="es-CL" sz="2000" dirty="0"/>
            <a:t>3. Limpieza y unión con CASEN</a:t>
          </a:r>
        </a:p>
      </dgm:t>
    </dgm:pt>
    <dgm:pt modelId="{7963BB82-ADE3-4C04-946B-25E6D336FAF7}" type="parTrans" cxnId="{65F0586D-DB77-42A5-A108-C43C54A8E577}">
      <dgm:prSet/>
      <dgm:spPr/>
      <dgm:t>
        <a:bodyPr/>
        <a:lstStyle/>
        <a:p>
          <a:endParaRPr lang="es-CL"/>
        </a:p>
      </dgm:t>
    </dgm:pt>
    <dgm:pt modelId="{973EBD24-8EF4-4618-9DD2-D0C2512509A7}" type="sibTrans" cxnId="{65F0586D-DB77-42A5-A108-C43C54A8E577}">
      <dgm:prSet/>
      <dgm:spPr/>
      <dgm:t>
        <a:bodyPr/>
        <a:lstStyle/>
        <a:p>
          <a:endParaRPr lang="es-CL"/>
        </a:p>
      </dgm:t>
    </dgm:pt>
    <dgm:pt modelId="{31DE7C6E-95FD-4236-B12B-E0A87339A5EA}">
      <dgm:prSet phldrT="[Texto]" phldr="0" custT="1"/>
      <dgm:spPr/>
      <dgm:t>
        <a:bodyPr/>
        <a:lstStyle/>
        <a:p>
          <a:pPr algn="ctr"/>
          <a:r>
            <a:rPr lang="es-CL" sz="2000"/>
            <a:t>4. Modelo de dos partes</a:t>
          </a:r>
        </a:p>
      </dgm:t>
    </dgm:pt>
    <dgm:pt modelId="{96E84DCD-1193-447C-AAAE-DA5BC41F4C13}" type="parTrans" cxnId="{9EDB3E08-A766-4B9D-8A7B-08F9BD8AEA13}">
      <dgm:prSet/>
      <dgm:spPr/>
      <dgm:t>
        <a:bodyPr/>
        <a:lstStyle/>
        <a:p>
          <a:endParaRPr lang="es-CL"/>
        </a:p>
      </dgm:t>
    </dgm:pt>
    <dgm:pt modelId="{26605400-85CB-41A5-8F52-19ACE7871AA0}" type="sibTrans" cxnId="{9EDB3E08-A766-4B9D-8A7B-08F9BD8AEA13}">
      <dgm:prSet/>
      <dgm:spPr/>
      <dgm:t>
        <a:bodyPr/>
        <a:lstStyle/>
        <a:p>
          <a:endParaRPr lang="es-CL"/>
        </a:p>
      </dgm:t>
    </dgm:pt>
    <dgm:pt modelId="{C00184CB-6EA8-47A6-8EF8-B43F3DD3A1CC}">
      <dgm:prSet phldrT="[Texto]" phldr="0" custT="1"/>
      <dgm:spPr/>
      <dgm:t>
        <a:bodyPr/>
        <a:lstStyle/>
        <a:p>
          <a:pPr algn="ctr"/>
          <a:r>
            <a:rPr lang="es-CL" sz="2000"/>
            <a:t>5. Imputación del gasto en CASEN</a:t>
          </a:r>
        </a:p>
      </dgm:t>
    </dgm:pt>
    <dgm:pt modelId="{713EBF5F-FAC3-463E-879F-AAE8371DA71D}" type="parTrans" cxnId="{33844ED6-3DC0-4B92-B83D-AA80FB04B690}">
      <dgm:prSet/>
      <dgm:spPr/>
      <dgm:t>
        <a:bodyPr/>
        <a:lstStyle/>
        <a:p>
          <a:endParaRPr lang="es-CL"/>
        </a:p>
      </dgm:t>
    </dgm:pt>
    <dgm:pt modelId="{15CAEC89-B9C8-4F3F-BC42-D6AC00B8661B}" type="sibTrans" cxnId="{33844ED6-3DC0-4B92-B83D-AA80FB04B690}">
      <dgm:prSet/>
      <dgm:spPr/>
      <dgm:t>
        <a:bodyPr/>
        <a:lstStyle/>
        <a:p>
          <a:endParaRPr lang="es-CL"/>
        </a:p>
      </dgm:t>
    </dgm:pt>
    <dgm:pt modelId="{521E6B29-1D04-4994-9AA4-F87E3B443CEC}" type="pres">
      <dgm:prSet presAssocID="{0E13CC26-6207-4524-92C6-A621ED126A5C}" presName="diagram" presStyleCnt="0">
        <dgm:presLayoutVars>
          <dgm:dir/>
          <dgm:resizeHandles val="exact"/>
        </dgm:presLayoutVars>
      </dgm:prSet>
      <dgm:spPr/>
    </dgm:pt>
    <dgm:pt modelId="{B5B00CAD-95CD-4550-A257-B98FAB2FD1DA}" type="pres">
      <dgm:prSet presAssocID="{0AE50D2A-39AB-4F1B-9CB9-F9714D1628CB}" presName="node" presStyleLbl="node1" presStyleIdx="0" presStyleCnt="5">
        <dgm:presLayoutVars>
          <dgm:bulletEnabled val="1"/>
        </dgm:presLayoutVars>
      </dgm:prSet>
      <dgm:spPr/>
    </dgm:pt>
    <dgm:pt modelId="{5D6A9708-D6F8-4F23-91E8-9994BAACC329}" type="pres">
      <dgm:prSet presAssocID="{940C6B63-9116-4AD3-A970-5A445B95FA35}" presName="sibTrans" presStyleCnt="0"/>
      <dgm:spPr/>
    </dgm:pt>
    <dgm:pt modelId="{994357AC-6F15-429A-AA85-61B37420E13A}" type="pres">
      <dgm:prSet presAssocID="{185FC4C1-FD2E-49AF-B24A-D80A0CF927BF}" presName="node" presStyleLbl="node1" presStyleIdx="1" presStyleCnt="5">
        <dgm:presLayoutVars>
          <dgm:bulletEnabled val="1"/>
        </dgm:presLayoutVars>
      </dgm:prSet>
      <dgm:spPr/>
    </dgm:pt>
    <dgm:pt modelId="{85906918-DB81-4135-B53D-633BDD13DA35}" type="pres">
      <dgm:prSet presAssocID="{8298B4AC-C325-49FD-AF0A-E01FD5BECD82}" presName="sibTrans" presStyleCnt="0"/>
      <dgm:spPr/>
    </dgm:pt>
    <dgm:pt modelId="{C9EDE22E-1D81-49A1-B1FD-2142BB8D3837}" type="pres">
      <dgm:prSet presAssocID="{9146D6E8-00C0-48FC-A70B-21CDBB52281E}" presName="node" presStyleLbl="node1" presStyleIdx="2" presStyleCnt="5">
        <dgm:presLayoutVars>
          <dgm:bulletEnabled val="1"/>
        </dgm:presLayoutVars>
      </dgm:prSet>
      <dgm:spPr/>
    </dgm:pt>
    <dgm:pt modelId="{86E928C3-5971-4A92-BAB6-1EEFF0C7A32E}" type="pres">
      <dgm:prSet presAssocID="{973EBD24-8EF4-4618-9DD2-D0C2512509A7}" presName="sibTrans" presStyleCnt="0"/>
      <dgm:spPr/>
    </dgm:pt>
    <dgm:pt modelId="{0F7C1153-91D4-4599-B5D0-C76629C74805}" type="pres">
      <dgm:prSet presAssocID="{31DE7C6E-95FD-4236-B12B-E0A87339A5EA}" presName="node" presStyleLbl="node1" presStyleIdx="3" presStyleCnt="5">
        <dgm:presLayoutVars>
          <dgm:bulletEnabled val="1"/>
        </dgm:presLayoutVars>
      </dgm:prSet>
      <dgm:spPr/>
    </dgm:pt>
    <dgm:pt modelId="{CC28AE19-9705-49EA-A437-C5B78022FCA6}" type="pres">
      <dgm:prSet presAssocID="{26605400-85CB-41A5-8F52-19ACE7871AA0}" presName="sibTrans" presStyleCnt="0"/>
      <dgm:spPr/>
    </dgm:pt>
    <dgm:pt modelId="{4F42388B-5F8D-444B-A475-50FC6760709C}" type="pres">
      <dgm:prSet presAssocID="{C00184CB-6EA8-47A6-8EF8-B43F3DD3A1CC}" presName="node" presStyleLbl="node1" presStyleIdx="4" presStyleCnt="5">
        <dgm:presLayoutVars>
          <dgm:bulletEnabled val="1"/>
        </dgm:presLayoutVars>
      </dgm:prSet>
      <dgm:spPr/>
    </dgm:pt>
  </dgm:ptLst>
  <dgm:cxnLst>
    <dgm:cxn modelId="{9EDB3E08-A766-4B9D-8A7B-08F9BD8AEA13}" srcId="{0E13CC26-6207-4524-92C6-A621ED126A5C}" destId="{31DE7C6E-95FD-4236-B12B-E0A87339A5EA}" srcOrd="3" destOrd="0" parTransId="{96E84DCD-1193-447C-AAAE-DA5BC41F4C13}" sibTransId="{26605400-85CB-41A5-8F52-19ACE7871AA0}"/>
    <dgm:cxn modelId="{60F4153B-AF02-43C9-B90B-919128CBC762}" srcId="{0E13CC26-6207-4524-92C6-A621ED126A5C}" destId="{0AE50D2A-39AB-4F1B-9CB9-F9714D1628CB}" srcOrd="0" destOrd="0" parTransId="{656C54AE-B1D5-4F47-B332-AA31CC30FD7D}" sibTransId="{940C6B63-9116-4AD3-A970-5A445B95FA35}"/>
    <dgm:cxn modelId="{7BEA0643-71C2-4574-A4AB-BC228F6BAEC2}" type="presOf" srcId="{9146D6E8-00C0-48FC-A70B-21CDBB52281E}" destId="{C9EDE22E-1D81-49A1-B1FD-2142BB8D3837}" srcOrd="0" destOrd="0" presId="urn:microsoft.com/office/officeart/2005/8/layout/default"/>
    <dgm:cxn modelId="{65F0586D-DB77-42A5-A108-C43C54A8E577}" srcId="{0E13CC26-6207-4524-92C6-A621ED126A5C}" destId="{9146D6E8-00C0-48FC-A70B-21CDBB52281E}" srcOrd="2" destOrd="0" parTransId="{7963BB82-ADE3-4C04-946B-25E6D336FAF7}" sibTransId="{973EBD24-8EF4-4618-9DD2-D0C2512509A7}"/>
    <dgm:cxn modelId="{78FCEA9D-DEB8-4EE9-9379-DFF9F87796E6}" type="presOf" srcId="{185FC4C1-FD2E-49AF-B24A-D80A0CF927BF}" destId="{994357AC-6F15-429A-AA85-61B37420E13A}" srcOrd="0" destOrd="0" presId="urn:microsoft.com/office/officeart/2005/8/layout/default"/>
    <dgm:cxn modelId="{C6A919A5-38BB-47E3-8ECA-8DF65EB5DDC8}" type="presOf" srcId="{0AE50D2A-39AB-4F1B-9CB9-F9714D1628CB}" destId="{B5B00CAD-95CD-4550-A257-B98FAB2FD1DA}" srcOrd="0" destOrd="0" presId="urn:microsoft.com/office/officeart/2005/8/layout/default"/>
    <dgm:cxn modelId="{8F07FCB0-4A6C-4F92-B5C2-12158E382BA7}" type="presOf" srcId="{C00184CB-6EA8-47A6-8EF8-B43F3DD3A1CC}" destId="{4F42388B-5F8D-444B-A475-50FC6760709C}" srcOrd="0" destOrd="0" presId="urn:microsoft.com/office/officeart/2005/8/layout/default"/>
    <dgm:cxn modelId="{7830BFBF-7E80-4DB5-BE56-286DA4A18A0C}" type="presOf" srcId="{31DE7C6E-95FD-4236-B12B-E0A87339A5EA}" destId="{0F7C1153-91D4-4599-B5D0-C76629C74805}" srcOrd="0" destOrd="0" presId="urn:microsoft.com/office/officeart/2005/8/layout/default"/>
    <dgm:cxn modelId="{33844ED6-3DC0-4B92-B83D-AA80FB04B690}" srcId="{0E13CC26-6207-4524-92C6-A621ED126A5C}" destId="{C00184CB-6EA8-47A6-8EF8-B43F3DD3A1CC}" srcOrd="4" destOrd="0" parTransId="{713EBF5F-FAC3-463E-879F-AAE8371DA71D}" sibTransId="{15CAEC89-B9C8-4F3F-BC42-D6AC00B8661B}"/>
    <dgm:cxn modelId="{0F3CEFE6-05DE-46E8-9641-AE2F17760CC7}" type="presOf" srcId="{0E13CC26-6207-4524-92C6-A621ED126A5C}" destId="{521E6B29-1D04-4994-9AA4-F87E3B443CEC}" srcOrd="0" destOrd="0" presId="urn:microsoft.com/office/officeart/2005/8/layout/default"/>
    <dgm:cxn modelId="{AAF97AF0-7EA0-45BE-B271-1AD4980482AA}" srcId="{0E13CC26-6207-4524-92C6-A621ED126A5C}" destId="{185FC4C1-FD2E-49AF-B24A-D80A0CF927BF}" srcOrd="1" destOrd="0" parTransId="{D89E7AE9-85ED-4A8E-B0F9-D1BD4C99FBC9}" sibTransId="{8298B4AC-C325-49FD-AF0A-E01FD5BECD82}"/>
    <dgm:cxn modelId="{2E96D07F-2817-4868-B345-97BED9F46C77}" type="presParOf" srcId="{521E6B29-1D04-4994-9AA4-F87E3B443CEC}" destId="{B5B00CAD-95CD-4550-A257-B98FAB2FD1DA}" srcOrd="0" destOrd="0" presId="urn:microsoft.com/office/officeart/2005/8/layout/default"/>
    <dgm:cxn modelId="{EB9966F3-1487-4F4A-825F-B8BE249A11E0}" type="presParOf" srcId="{521E6B29-1D04-4994-9AA4-F87E3B443CEC}" destId="{5D6A9708-D6F8-4F23-91E8-9994BAACC329}" srcOrd="1" destOrd="0" presId="urn:microsoft.com/office/officeart/2005/8/layout/default"/>
    <dgm:cxn modelId="{BB7F19E1-F786-42D9-8AD7-81142C7C0030}" type="presParOf" srcId="{521E6B29-1D04-4994-9AA4-F87E3B443CEC}" destId="{994357AC-6F15-429A-AA85-61B37420E13A}" srcOrd="2" destOrd="0" presId="urn:microsoft.com/office/officeart/2005/8/layout/default"/>
    <dgm:cxn modelId="{060AE11B-9E86-4BBE-A6DF-AAE434B3BC75}" type="presParOf" srcId="{521E6B29-1D04-4994-9AA4-F87E3B443CEC}" destId="{85906918-DB81-4135-B53D-633BDD13DA35}" srcOrd="3" destOrd="0" presId="urn:microsoft.com/office/officeart/2005/8/layout/default"/>
    <dgm:cxn modelId="{1B2632A4-9EC9-4FC3-B0C4-9A3651C02648}" type="presParOf" srcId="{521E6B29-1D04-4994-9AA4-F87E3B443CEC}" destId="{C9EDE22E-1D81-49A1-B1FD-2142BB8D3837}" srcOrd="4" destOrd="0" presId="urn:microsoft.com/office/officeart/2005/8/layout/default"/>
    <dgm:cxn modelId="{6A8547DD-4A85-479C-8110-C57B51740498}" type="presParOf" srcId="{521E6B29-1D04-4994-9AA4-F87E3B443CEC}" destId="{86E928C3-5971-4A92-BAB6-1EEFF0C7A32E}" srcOrd="5" destOrd="0" presId="urn:microsoft.com/office/officeart/2005/8/layout/default"/>
    <dgm:cxn modelId="{8CB2C80E-344B-4877-ACF3-97FEB861162F}" type="presParOf" srcId="{521E6B29-1D04-4994-9AA4-F87E3B443CEC}" destId="{0F7C1153-91D4-4599-B5D0-C76629C74805}" srcOrd="6" destOrd="0" presId="urn:microsoft.com/office/officeart/2005/8/layout/default"/>
    <dgm:cxn modelId="{63C8F8D5-7F4B-4BB9-AC65-F4C67DD2193B}" type="presParOf" srcId="{521E6B29-1D04-4994-9AA4-F87E3B443CEC}" destId="{CC28AE19-9705-49EA-A437-C5B78022FCA6}" srcOrd="7" destOrd="0" presId="urn:microsoft.com/office/officeart/2005/8/layout/default"/>
    <dgm:cxn modelId="{E8A7C3C3-4A74-463F-98E6-C672DB5C10E7}" type="presParOf" srcId="{521E6B29-1D04-4994-9AA4-F87E3B443CEC}" destId="{4F42388B-5F8D-444B-A475-50FC6760709C}"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15EDD7A-5F45-46D3-A3D1-F5C75DB7DAD9}" type="doc">
      <dgm:prSet loTypeId="urn:microsoft.com/office/officeart/2005/8/layout/cycle5" loCatId="cycle" qsTypeId="urn:microsoft.com/office/officeart/2005/8/quickstyle/simple1" qsCatId="simple" csTypeId="urn:microsoft.com/office/officeart/2005/8/colors/colorful1" csCatId="colorful"/>
      <dgm:spPr/>
      <dgm:t>
        <a:bodyPr/>
        <a:lstStyle/>
        <a:p>
          <a:endParaRPr lang="en-US"/>
        </a:p>
      </dgm:t>
    </dgm:pt>
    <dgm:pt modelId="{0C288ED8-4EB3-4CC0-ADA6-87FF63A961FC}">
      <dgm:prSet/>
      <dgm:spPr/>
      <dgm:t>
        <a:bodyPr/>
        <a:lstStyle/>
        <a:p>
          <a:r>
            <a:rPr lang="es-CL"/>
            <a:t>Se define como el servicio a evaluar: Todos los gastos del hogar clasificados en las categorías del CCIF como:</a:t>
          </a:r>
          <a:endParaRPr lang="en-US"/>
        </a:p>
      </dgm:t>
    </dgm:pt>
    <dgm:pt modelId="{EB92EEAC-AB25-4668-8B74-C301FCA0D874}" type="parTrans" cxnId="{EC3A5AF9-0068-4D12-909B-56CFEB2BA8D7}">
      <dgm:prSet/>
      <dgm:spPr/>
      <dgm:t>
        <a:bodyPr/>
        <a:lstStyle/>
        <a:p>
          <a:endParaRPr lang="en-US"/>
        </a:p>
      </dgm:t>
    </dgm:pt>
    <dgm:pt modelId="{C2ED1427-AD7C-4E94-8E84-C0CFAD4239CD}" type="sibTrans" cxnId="{EC3A5AF9-0068-4D12-909B-56CFEB2BA8D7}">
      <dgm:prSet/>
      <dgm:spPr/>
      <dgm:t>
        <a:bodyPr/>
        <a:lstStyle/>
        <a:p>
          <a:endParaRPr lang="en-US"/>
        </a:p>
      </dgm:t>
    </dgm:pt>
    <dgm:pt modelId="{8C37C8B9-747A-47E1-A017-913617681409}">
      <dgm:prSet/>
      <dgm:spPr/>
      <dgm:t>
        <a:bodyPr/>
        <a:lstStyle/>
        <a:p>
          <a:r>
            <a:rPr lang="es-CL"/>
            <a:t>Restaurantes</a:t>
          </a:r>
          <a:endParaRPr lang="en-US"/>
        </a:p>
      </dgm:t>
    </dgm:pt>
    <dgm:pt modelId="{EA1D648F-D4E1-44F3-9322-98A0B228CD66}" type="parTrans" cxnId="{D9D05A54-1C37-4BCF-B177-431179067592}">
      <dgm:prSet/>
      <dgm:spPr/>
      <dgm:t>
        <a:bodyPr/>
        <a:lstStyle/>
        <a:p>
          <a:endParaRPr lang="en-US"/>
        </a:p>
      </dgm:t>
    </dgm:pt>
    <dgm:pt modelId="{C6A3E4E1-79C8-4CA2-B5E1-CE486620A6FA}" type="sibTrans" cxnId="{D9D05A54-1C37-4BCF-B177-431179067592}">
      <dgm:prSet/>
      <dgm:spPr/>
      <dgm:t>
        <a:bodyPr/>
        <a:lstStyle/>
        <a:p>
          <a:endParaRPr lang="en-US"/>
        </a:p>
      </dgm:t>
    </dgm:pt>
    <dgm:pt modelId="{1FFAC917-82ED-4DD5-820C-5AD74C8CBB86}">
      <dgm:prSet/>
      <dgm:spPr/>
      <dgm:t>
        <a:bodyPr/>
        <a:lstStyle/>
        <a:p>
          <a:r>
            <a:rPr lang="es-CL"/>
            <a:t>Comida rápida</a:t>
          </a:r>
          <a:endParaRPr lang="en-US"/>
        </a:p>
      </dgm:t>
    </dgm:pt>
    <dgm:pt modelId="{FECD4389-2DFF-42A5-BC8F-C054A8DDAB41}" type="parTrans" cxnId="{6527A244-F24C-4AB6-89A5-5429E2FF0336}">
      <dgm:prSet/>
      <dgm:spPr/>
      <dgm:t>
        <a:bodyPr/>
        <a:lstStyle/>
        <a:p>
          <a:endParaRPr lang="en-US"/>
        </a:p>
      </dgm:t>
    </dgm:pt>
    <dgm:pt modelId="{E5A26B65-ED9D-47E3-AD7B-65BE821DF34D}" type="sibTrans" cxnId="{6527A244-F24C-4AB6-89A5-5429E2FF0336}">
      <dgm:prSet/>
      <dgm:spPr/>
      <dgm:t>
        <a:bodyPr/>
        <a:lstStyle/>
        <a:p>
          <a:endParaRPr lang="en-US"/>
        </a:p>
      </dgm:t>
    </dgm:pt>
    <dgm:pt modelId="{718CDBCB-E850-42B8-9400-94B7F5CD82D5}">
      <dgm:prSet/>
      <dgm:spPr/>
      <dgm:t>
        <a:bodyPr/>
        <a:lstStyle/>
        <a:p>
          <a:r>
            <a:rPr lang="es-CL"/>
            <a:t>Servicio limitado</a:t>
          </a:r>
          <a:endParaRPr lang="en-US"/>
        </a:p>
      </dgm:t>
    </dgm:pt>
    <dgm:pt modelId="{CE9C8719-2DE1-4E23-A08E-A0AB06654D0F}" type="parTrans" cxnId="{BC16F0F2-8E86-47C2-8B59-9D8A97CCA1D2}">
      <dgm:prSet/>
      <dgm:spPr/>
      <dgm:t>
        <a:bodyPr/>
        <a:lstStyle/>
        <a:p>
          <a:endParaRPr lang="en-US"/>
        </a:p>
      </dgm:t>
    </dgm:pt>
    <dgm:pt modelId="{F7329F21-EAC2-4C64-854F-67A58F13C715}" type="sibTrans" cxnId="{BC16F0F2-8E86-47C2-8B59-9D8A97CCA1D2}">
      <dgm:prSet/>
      <dgm:spPr/>
      <dgm:t>
        <a:bodyPr/>
        <a:lstStyle/>
        <a:p>
          <a:endParaRPr lang="en-US"/>
        </a:p>
      </dgm:t>
    </dgm:pt>
    <dgm:pt modelId="{DFC7F8BE-2003-4978-837F-BAB4DDBCDEC2}">
      <dgm:prSet/>
      <dgm:spPr/>
      <dgm:t>
        <a:bodyPr/>
        <a:lstStyle/>
        <a:p>
          <a:r>
            <a:rPr lang="es-CL"/>
            <a:t>Comercio ambulante</a:t>
          </a:r>
          <a:endParaRPr lang="en-US"/>
        </a:p>
      </dgm:t>
    </dgm:pt>
    <dgm:pt modelId="{D753578B-B72B-4D5A-940C-DC2D1A109369}" type="parTrans" cxnId="{20F8C9A1-E2A9-482E-841B-36005D03BAD7}">
      <dgm:prSet/>
      <dgm:spPr/>
      <dgm:t>
        <a:bodyPr/>
        <a:lstStyle/>
        <a:p>
          <a:endParaRPr lang="en-US"/>
        </a:p>
      </dgm:t>
    </dgm:pt>
    <dgm:pt modelId="{42805958-0EC4-455E-B4F7-E5E15508ECF2}" type="sibTrans" cxnId="{20F8C9A1-E2A9-482E-841B-36005D03BAD7}">
      <dgm:prSet/>
      <dgm:spPr/>
      <dgm:t>
        <a:bodyPr/>
        <a:lstStyle/>
        <a:p>
          <a:endParaRPr lang="en-US"/>
        </a:p>
      </dgm:t>
    </dgm:pt>
    <dgm:pt modelId="{69F3906D-BA84-4A5B-82D2-A855440D8EBA}">
      <dgm:prSet/>
      <dgm:spPr/>
      <dgm:t>
        <a:bodyPr/>
        <a:lstStyle/>
        <a:p>
          <a:r>
            <a:rPr lang="es-CL"/>
            <a:t>Delivery</a:t>
          </a:r>
          <a:endParaRPr lang="en-US"/>
        </a:p>
      </dgm:t>
    </dgm:pt>
    <dgm:pt modelId="{1C038B52-08E6-463C-AE90-8AD50C38DAFC}" type="parTrans" cxnId="{A0C8E08B-3FC5-4ECD-87B8-92DE486B0E9F}">
      <dgm:prSet/>
      <dgm:spPr/>
      <dgm:t>
        <a:bodyPr/>
        <a:lstStyle/>
        <a:p>
          <a:endParaRPr lang="en-US"/>
        </a:p>
      </dgm:t>
    </dgm:pt>
    <dgm:pt modelId="{35308A3D-E173-4931-8F26-26D8BFC1DD9B}" type="sibTrans" cxnId="{A0C8E08B-3FC5-4ECD-87B8-92DE486B0E9F}">
      <dgm:prSet/>
      <dgm:spPr/>
      <dgm:t>
        <a:bodyPr/>
        <a:lstStyle/>
        <a:p>
          <a:endParaRPr lang="en-US"/>
        </a:p>
      </dgm:t>
    </dgm:pt>
    <dgm:pt modelId="{CD71406D-6DEB-4102-8358-F23FDF8B5508}" type="pres">
      <dgm:prSet presAssocID="{415EDD7A-5F45-46D3-A3D1-F5C75DB7DAD9}" presName="cycle" presStyleCnt="0">
        <dgm:presLayoutVars>
          <dgm:dir/>
          <dgm:resizeHandles val="exact"/>
        </dgm:presLayoutVars>
      </dgm:prSet>
      <dgm:spPr/>
    </dgm:pt>
    <dgm:pt modelId="{4C078953-E5B1-4814-AE15-17C0D1F19F44}" type="pres">
      <dgm:prSet presAssocID="{0C288ED8-4EB3-4CC0-ADA6-87FF63A961FC}" presName="node" presStyleLbl="node1" presStyleIdx="0" presStyleCnt="1">
        <dgm:presLayoutVars>
          <dgm:bulletEnabled val="1"/>
        </dgm:presLayoutVars>
      </dgm:prSet>
      <dgm:spPr/>
    </dgm:pt>
  </dgm:ptLst>
  <dgm:cxnLst>
    <dgm:cxn modelId="{98B36F0C-39F8-4171-83E3-E2701A41A15E}" type="presOf" srcId="{1FFAC917-82ED-4DD5-820C-5AD74C8CBB86}" destId="{4C078953-E5B1-4814-AE15-17C0D1F19F44}" srcOrd="0" destOrd="2" presId="urn:microsoft.com/office/officeart/2005/8/layout/cycle5"/>
    <dgm:cxn modelId="{4E94CC1E-E593-42B6-9C6F-9D912F8527FD}" type="presOf" srcId="{718CDBCB-E850-42B8-9400-94B7F5CD82D5}" destId="{4C078953-E5B1-4814-AE15-17C0D1F19F44}" srcOrd="0" destOrd="3" presId="urn:microsoft.com/office/officeart/2005/8/layout/cycle5"/>
    <dgm:cxn modelId="{D4FF6934-03C3-4F46-BB9B-36E05411B95E}" type="presOf" srcId="{8C37C8B9-747A-47E1-A017-913617681409}" destId="{4C078953-E5B1-4814-AE15-17C0D1F19F44}" srcOrd="0" destOrd="1" presId="urn:microsoft.com/office/officeart/2005/8/layout/cycle5"/>
    <dgm:cxn modelId="{6527A244-F24C-4AB6-89A5-5429E2FF0336}" srcId="{0C288ED8-4EB3-4CC0-ADA6-87FF63A961FC}" destId="{1FFAC917-82ED-4DD5-820C-5AD74C8CBB86}" srcOrd="1" destOrd="0" parTransId="{FECD4389-2DFF-42A5-BC8F-C054A8DDAB41}" sibTransId="{E5A26B65-ED9D-47E3-AD7B-65BE821DF34D}"/>
    <dgm:cxn modelId="{D9D05A54-1C37-4BCF-B177-431179067592}" srcId="{0C288ED8-4EB3-4CC0-ADA6-87FF63A961FC}" destId="{8C37C8B9-747A-47E1-A017-913617681409}" srcOrd="0" destOrd="0" parTransId="{EA1D648F-D4E1-44F3-9322-98A0B228CD66}" sibTransId="{C6A3E4E1-79C8-4CA2-B5E1-CE486620A6FA}"/>
    <dgm:cxn modelId="{A0C8E08B-3FC5-4ECD-87B8-92DE486B0E9F}" srcId="{0C288ED8-4EB3-4CC0-ADA6-87FF63A961FC}" destId="{69F3906D-BA84-4A5B-82D2-A855440D8EBA}" srcOrd="4" destOrd="0" parTransId="{1C038B52-08E6-463C-AE90-8AD50C38DAFC}" sibTransId="{35308A3D-E173-4931-8F26-26D8BFC1DD9B}"/>
    <dgm:cxn modelId="{20F8C9A1-E2A9-482E-841B-36005D03BAD7}" srcId="{0C288ED8-4EB3-4CC0-ADA6-87FF63A961FC}" destId="{DFC7F8BE-2003-4978-837F-BAB4DDBCDEC2}" srcOrd="3" destOrd="0" parTransId="{D753578B-B72B-4D5A-940C-DC2D1A109369}" sibTransId="{42805958-0EC4-455E-B4F7-E5E15508ECF2}"/>
    <dgm:cxn modelId="{155DC1A2-F6C3-45E6-A9D6-FB74D21083D7}" type="presOf" srcId="{DFC7F8BE-2003-4978-837F-BAB4DDBCDEC2}" destId="{4C078953-E5B1-4814-AE15-17C0D1F19F44}" srcOrd="0" destOrd="4" presId="urn:microsoft.com/office/officeart/2005/8/layout/cycle5"/>
    <dgm:cxn modelId="{330B5FC0-7F94-4BE2-A4F8-B82177B012FC}" type="presOf" srcId="{415EDD7A-5F45-46D3-A3D1-F5C75DB7DAD9}" destId="{CD71406D-6DEB-4102-8358-F23FDF8B5508}" srcOrd="0" destOrd="0" presId="urn:microsoft.com/office/officeart/2005/8/layout/cycle5"/>
    <dgm:cxn modelId="{26A01DC8-9064-41B5-A2C6-91B7D7D65159}" type="presOf" srcId="{69F3906D-BA84-4A5B-82D2-A855440D8EBA}" destId="{4C078953-E5B1-4814-AE15-17C0D1F19F44}" srcOrd="0" destOrd="5" presId="urn:microsoft.com/office/officeart/2005/8/layout/cycle5"/>
    <dgm:cxn modelId="{0DC221C9-56C0-40E4-9D69-B10145EDB642}" type="presOf" srcId="{0C288ED8-4EB3-4CC0-ADA6-87FF63A961FC}" destId="{4C078953-E5B1-4814-AE15-17C0D1F19F44}" srcOrd="0" destOrd="0" presId="urn:microsoft.com/office/officeart/2005/8/layout/cycle5"/>
    <dgm:cxn modelId="{BC16F0F2-8E86-47C2-8B59-9D8A97CCA1D2}" srcId="{0C288ED8-4EB3-4CC0-ADA6-87FF63A961FC}" destId="{718CDBCB-E850-42B8-9400-94B7F5CD82D5}" srcOrd="2" destOrd="0" parTransId="{CE9C8719-2DE1-4E23-A08E-A0AB06654D0F}" sibTransId="{F7329F21-EAC2-4C64-854F-67A58F13C715}"/>
    <dgm:cxn modelId="{EC3A5AF9-0068-4D12-909B-56CFEB2BA8D7}" srcId="{415EDD7A-5F45-46D3-A3D1-F5C75DB7DAD9}" destId="{0C288ED8-4EB3-4CC0-ADA6-87FF63A961FC}" srcOrd="0" destOrd="0" parTransId="{EB92EEAC-AB25-4668-8B74-C301FCA0D874}" sibTransId="{C2ED1427-AD7C-4E94-8E84-C0CFAD4239CD}"/>
    <dgm:cxn modelId="{657B25B2-91FB-4492-8045-BA8F513304B5}" type="presParOf" srcId="{CD71406D-6DEB-4102-8358-F23FDF8B5508}" destId="{4C078953-E5B1-4814-AE15-17C0D1F19F44}" srcOrd="0"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4FD23F1-A4BF-4CCD-A408-1BFA66602FBD}"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s-CL"/>
        </a:p>
      </dgm:t>
    </dgm:pt>
    <dgm:pt modelId="{66614543-4994-4FF2-9342-16C575D61E9D}">
      <dgm:prSet phldrT="[Texto]" phldr="0"/>
      <dgm:spPr/>
      <dgm:t>
        <a:bodyPr/>
        <a:lstStyle/>
        <a:p>
          <a:r>
            <a:rPr lang="es-CL" dirty="0"/>
            <a:t>Selección de gastos fuera del hogar</a:t>
          </a:r>
        </a:p>
      </dgm:t>
    </dgm:pt>
    <dgm:pt modelId="{CCE949D5-1002-4B7B-ABE3-90C66A66BA24}" type="parTrans" cxnId="{C6B103E2-D1D2-414C-AAE4-90C348ED6CD6}">
      <dgm:prSet/>
      <dgm:spPr/>
      <dgm:t>
        <a:bodyPr/>
        <a:lstStyle/>
        <a:p>
          <a:endParaRPr lang="es-CL"/>
        </a:p>
      </dgm:t>
    </dgm:pt>
    <dgm:pt modelId="{7B9478C4-6374-4F0C-B208-97AD536071F0}" type="sibTrans" cxnId="{C6B103E2-D1D2-414C-AAE4-90C348ED6CD6}">
      <dgm:prSet/>
      <dgm:spPr/>
      <dgm:t>
        <a:bodyPr/>
        <a:lstStyle/>
        <a:p>
          <a:endParaRPr lang="es-CL"/>
        </a:p>
      </dgm:t>
    </dgm:pt>
    <dgm:pt modelId="{A9566640-6D8F-4F4D-BF38-89D78E813D68}">
      <dgm:prSet phldrT="[Texto]" phldr="0"/>
      <dgm:spPr/>
      <dgm:t>
        <a:bodyPr/>
        <a:lstStyle/>
        <a:p>
          <a:r>
            <a:rPr lang="es-CL" dirty="0"/>
            <a:t>Suma de gastos por hogar (folio)</a:t>
          </a:r>
        </a:p>
      </dgm:t>
    </dgm:pt>
    <dgm:pt modelId="{C6F83F71-3706-4E60-AD83-17780648BB58}" type="parTrans" cxnId="{6223C6DE-2EED-4A64-9A73-D2E0B98669E8}">
      <dgm:prSet/>
      <dgm:spPr/>
      <dgm:t>
        <a:bodyPr/>
        <a:lstStyle/>
        <a:p>
          <a:endParaRPr lang="es-CL"/>
        </a:p>
      </dgm:t>
    </dgm:pt>
    <dgm:pt modelId="{922434ED-E01F-44BE-8BC3-B24D60388EB3}" type="sibTrans" cxnId="{6223C6DE-2EED-4A64-9A73-D2E0B98669E8}">
      <dgm:prSet/>
      <dgm:spPr/>
      <dgm:t>
        <a:bodyPr/>
        <a:lstStyle/>
        <a:p>
          <a:endParaRPr lang="es-CL"/>
        </a:p>
      </dgm:t>
    </dgm:pt>
    <dgm:pt modelId="{AF24997E-2AEF-4082-8530-519EAC2F988A}">
      <dgm:prSet phldrT="[Texto]" phldr="0"/>
      <dgm:spPr/>
      <dgm:t>
        <a:bodyPr/>
        <a:lstStyle/>
        <a:p>
          <a:r>
            <a:rPr lang="es-CL" dirty="0"/>
            <a:t>Se obtuvo a través de el uso de 2 modelos:</a:t>
          </a:r>
        </a:p>
        <a:p>
          <a:r>
            <a:rPr lang="es-CL" dirty="0"/>
            <a:t>- Variable Continua: Gasto por hogar</a:t>
          </a:r>
        </a:p>
        <a:p>
          <a:r>
            <a:rPr lang="es-CL" dirty="0"/>
            <a:t>- Variable </a:t>
          </a:r>
          <a:r>
            <a:rPr lang="es-CL" dirty="0" err="1"/>
            <a:t>dummy</a:t>
          </a:r>
          <a:r>
            <a:rPr lang="es-CL" dirty="0"/>
            <a:t>: si el hogar gasta o no </a:t>
          </a:r>
        </a:p>
      </dgm:t>
    </dgm:pt>
    <dgm:pt modelId="{5E0C606A-1F59-485B-9CBB-DD8837330128}" type="parTrans" cxnId="{5179DCDC-AB9A-41D7-A20C-6EB225162386}">
      <dgm:prSet/>
      <dgm:spPr/>
      <dgm:t>
        <a:bodyPr/>
        <a:lstStyle/>
        <a:p>
          <a:endParaRPr lang="es-CL"/>
        </a:p>
      </dgm:t>
    </dgm:pt>
    <dgm:pt modelId="{50E2A43B-D40F-4578-AC1D-FC887F57C1CC}" type="sibTrans" cxnId="{5179DCDC-AB9A-41D7-A20C-6EB225162386}">
      <dgm:prSet/>
      <dgm:spPr/>
      <dgm:t>
        <a:bodyPr/>
        <a:lstStyle/>
        <a:p>
          <a:endParaRPr lang="es-CL"/>
        </a:p>
      </dgm:t>
    </dgm:pt>
    <dgm:pt modelId="{C2A478E9-4E25-4F3C-B7F9-A94D420408E1}" type="pres">
      <dgm:prSet presAssocID="{94FD23F1-A4BF-4CCD-A408-1BFA66602FBD}" presName="Name0" presStyleCnt="0">
        <dgm:presLayoutVars>
          <dgm:dir/>
          <dgm:resizeHandles val="exact"/>
        </dgm:presLayoutVars>
      </dgm:prSet>
      <dgm:spPr/>
    </dgm:pt>
    <dgm:pt modelId="{BFE2C2A3-DD7F-4D02-8779-8E391B596DE3}" type="pres">
      <dgm:prSet presAssocID="{66614543-4994-4FF2-9342-16C575D61E9D}" presName="node" presStyleLbl="node1" presStyleIdx="0" presStyleCnt="3">
        <dgm:presLayoutVars>
          <dgm:bulletEnabled val="1"/>
        </dgm:presLayoutVars>
      </dgm:prSet>
      <dgm:spPr/>
    </dgm:pt>
    <dgm:pt modelId="{3641B166-C92B-4CD6-9146-6F1E99A42D44}" type="pres">
      <dgm:prSet presAssocID="{7B9478C4-6374-4F0C-B208-97AD536071F0}" presName="sibTrans" presStyleLbl="sibTrans2D1" presStyleIdx="0" presStyleCnt="2"/>
      <dgm:spPr/>
    </dgm:pt>
    <dgm:pt modelId="{8FAAA7E6-E526-442F-8F6A-6196BE05DAA6}" type="pres">
      <dgm:prSet presAssocID="{7B9478C4-6374-4F0C-B208-97AD536071F0}" presName="connectorText" presStyleLbl="sibTrans2D1" presStyleIdx="0" presStyleCnt="2"/>
      <dgm:spPr/>
    </dgm:pt>
    <dgm:pt modelId="{4DB9203C-4067-45DE-B0E5-2A6BD96B8C03}" type="pres">
      <dgm:prSet presAssocID="{A9566640-6D8F-4F4D-BF38-89D78E813D68}" presName="node" presStyleLbl="node1" presStyleIdx="1" presStyleCnt="3">
        <dgm:presLayoutVars>
          <dgm:bulletEnabled val="1"/>
        </dgm:presLayoutVars>
      </dgm:prSet>
      <dgm:spPr/>
    </dgm:pt>
    <dgm:pt modelId="{1EA73AEA-087A-4508-B7EE-020557C21797}" type="pres">
      <dgm:prSet presAssocID="{922434ED-E01F-44BE-8BC3-B24D60388EB3}" presName="sibTrans" presStyleLbl="sibTrans2D1" presStyleIdx="1" presStyleCnt="2"/>
      <dgm:spPr/>
    </dgm:pt>
    <dgm:pt modelId="{669B1B0F-C1AD-4D2A-AFC8-32BCA7BECDB5}" type="pres">
      <dgm:prSet presAssocID="{922434ED-E01F-44BE-8BC3-B24D60388EB3}" presName="connectorText" presStyleLbl="sibTrans2D1" presStyleIdx="1" presStyleCnt="2"/>
      <dgm:spPr/>
    </dgm:pt>
    <dgm:pt modelId="{D0707EB4-A03B-4749-B028-17308F7FBD0D}" type="pres">
      <dgm:prSet presAssocID="{AF24997E-2AEF-4082-8530-519EAC2F988A}" presName="node" presStyleLbl="node1" presStyleIdx="2" presStyleCnt="3">
        <dgm:presLayoutVars>
          <dgm:bulletEnabled val="1"/>
        </dgm:presLayoutVars>
      </dgm:prSet>
      <dgm:spPr/>
    </dgm:pt>
  </dgm:ptLst>
  <dgm:cxnLst>
    <dgm:cxn modelId="{37704538-71CB-427E-AD20-7C2621EB3117}" type="presOf" srcId="{AF24997E-2AEF-4082-8530-519EAC2F988A}" destId="{D0707EB4-A03B-4749-B028-17308F7FBD0D}" srcOrd="0" destOrd="0" presId="urn:microsoft.com/office/officeart/2005/8/layout/process1"/>
    <dgm:cxn modelId="{36CC825D-FBE1-4CBA-8822-C3F09B365FD4}" type="presOf" srcId="{A9566640-6D8F-4F4D-BF38-89D78E813D68}" destId="{4DB9203C-4067-45DE-B0E5-2A6BD96B8C03}" srcOrd="0" destOrd="0" presId="urn:microsoft.com/office/officeart/2005/8/layout/process1"/>
    <dgm:cxn modelId="{3E773E89-E072-4C01-BC19-20C5078B4AEA}" type="presOf" srcId="{94FD23F1-A4BF-4CCD-A408-1BFA66602FBD}" destId="{C2A478E9-4E25-4F3C-B7F9-A94D420408E1}" srcOrd="0" destOrd="0" presId="urn:microsoft.com/office/officeart/2005/8/layout/process1"/>
    <dgm:cxn modelId="{7B84F28D-5EF3-43CE-AFED-F1DE20A35CA8}" type="presOf" srcId="{7B9478C4-6374-4F0C-B208-97AD536071F0}" destId="{3641B166-C92B-4CD6-9146-6F1E99A42D44}" srcOrd="0" destOrd="0" presId="urn:microsoft.com/office/officeart/2005/8/layout/process1"/>
    <dgm:cxn modelId="{3F4B609D-1099-4584-96F7-82A13AA297D4}" type="presOf" srcId="{922434ED-E01F-44BE-8BC3-B24D60388EB3}" destId="{1EA73AEA-087A-4508-B7EE-020557C21797}" srcOrd="0" destOrd="0" presId="urn:microsoft.com/office/officeart/2005/8/layout/process1"/>
    <dgm:cxn modelId="{6DD94BBE-E12E-49AA-B966-D8DF426BBAD2}" type="presOf" srcId="{7B9478C4-6374-4F0C-B208-97AD536071F0}" destId="{8FAAA7E6-E526-442F-8F6A-6196BE05DAA6}" srcOrd="1" destOrd="0" presId="urn:microsoft.com/office/officeart/2005/8/layout/process1"/>
    <dgm:cxn modelId="{4FB96CC6-B0EA-49A6-8CDD-3F4E51775D12}" type="presOf" srcId="{66614543-4994-4FF2-9342-16C575D61E9D}" destId="{BFE2C2A3-DD7F-4D02-8779-8E391B596DE3}" srcOrd="0" destOrd="0" presId="urn:microsoft.com/office/officeart/2005/8/layout/process1"/>
    <dgm:cxn modelId="{70089DDB-E38C-4C38-BC72-A0DF0B97FE4E}" type="presOf" srcId="{922434ED-E01F-44BE-8BC3-B24D60388EB3}" destId="{669B1B0F-C1AD-4D2A-AFC8-32BCA7BECDB5}" srcOrd="1" destOrd="0" presId="urn:microsoft.com/office/officeart/2005/8/layout/process1"/>
    <dgm:cxn modelId="{5179DCDC-AB9A-41D7-A20C-6EB225162386}" srcId="{94FD23F1-A4BF-4CCD-A408-1BFA66602FBD}" destId="{AF24997E-2AEF-4082-8530-519EAC2F988A}" srcOrd="2" destOrd="0" parTransId="{5E0C606A-1F59-485B-9CBB-DD8837330128}" sibTransId="{50E2A43B-D40F-4578-AC1D-FC887F57C1CC}"/>
    <dgm:cxn modelId="{6223C6DE-2EED-4A64-9A73-D2E0B98669E8}" srcId="{94FD23F1-A4BF-4CCD-A408-1BFA66602FBD}" destId="{A9566640-6D8F-4F4D-BF38-89D78E813D68}" srcOrd="1" destOrd="0" parTransId="{C6F83F71-3706-4E60-AD83-17780648BB58}" sibTransId="{922434ED-E01F-44BE-8BC3-B24D60388EB3}"/>
    <dgm:cxn modelId="{C6B103E2-D1D2-414C-AAE4-90C348ED6CD6}" srcId="{94FD23F1-A4BF-4CCD-A408-1BFA66602FBD}" destId="{66614543-4994-4FF2-9342-16C575D61E9D}" srcOrd="0" destOrd="0" parTransId="{CCE949D5-1002-4B7B-ABE3-90C66A66BA24}" sibTransId="{7B9478C4-6374-4F0C-B208-97AD536071F0}"/>
    <dgm:cxn modelId="{11AEF83F-5D3D-4805-9418-311CE3FAC58F}" type="presParOf" srcId="{C2A478E9-4E25-4F3C-B7F9-A94D420408E1}" destId="{BFE2C2A3-DD7F-4D02-8779-8E391B596DE3}" srcOrd="0" destOrd="0" presId="urn:microsoft.com/office/officeart/2005/8/layout/process1"/>
    <dgm:cxn modelId="{DF3F04E4-4760-4441-B06D-96E7DC5C19DD}" type="presParOf" srcId="{C2A478E9-4E25-4F3C-B7F9-A94D420408E1}" destId="{3641B166-C92B-4CD6-9146-6F1E99A42D44}" srcOrd="1" destOrd="0" presId="urn:microsoft.com/office/officeart/2005/8/layout/process1"/>
    <dgm:cxn modelId="{73D610F3-A656-4F43-B3EC-8EB12AA74FB7}" type="presParOf" srcId="{3641B166-C92B-4CD6-9146-6F1E99A42D44}" destId="{8FAAA7E6-E526-442F-8F6A-6196BE05DAA6}" srcOrd="0" destOrd="0" presId="urn:microsoft.com/office/officeart/2005/8/layout/process1"/>
    <dgm:cxn modelId="{20A359AF-B537-4E75-960F-9399D8287AF3}" type="presParOf" srcId="{C2A478E9-4E25-4F3C-B7F9-A94D420408E1}" destId="{4DB9203C-4067-45DE-B0E5-2A6BD96B8C03}" srcOrd="2" destOrd="0" presId="urn:microsoft.com/office/officeart/2005/8/layout/process1"/>
    <dgm:cxn modelId="{B03B8A90-370A-4EFE-889A-2CD66145A978}" type="presParOf" srcId="{C2A478E9-4E25-4F3C-B7F9-A94D420408E1}" destId="{1EA73AEA-087A-4508-B7EE-020557C21797}" srcOrd="3" destOrd="0" presId="urn:microsoft.com/office/officeart/2005/8/layout/process1"/>
    <dgm:cxn modelId="{A4229371-BB76-4883-B614-152E8BE6BC96}" type="presParOf" srcId="{1EA73AEA-087A-4508-B7EE-020557C21797}" destId="{669B1B0F-C1AD-4D2A-AFC8-32BCA7BECDB5}" srcOrd="0" destOrd="0" presId="urn:microsoft.com/office/officeart/2005/8/layout/process1"/>
    <dgm:cxn modelId="{2B29C5B4-B387-451C-876E-C4AA98AD23FA}" type="presParOf" srcId="{C2A478E9-4E25-4F3C-B7F9-A94D420408E1}" destId="{D0707EB4-A03B-4749-B028-17308F7FBD0D}"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F5224F-6E9F-4DD0-8112-3B37C56878F0}">
      <dsp:nvSpPr>
        <dsp:cNvPr id="0" name=""/>
        <dsp:cNvSpPr/>
      </dsp:nvSpPr>
      <dsp:spPr>
        <a:xfrm>
          <a:off x="0" y="82894"/>
          <a:ext cx="5966291" cy="59962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CL" sz="2500" kern="1200"/>
            <a:t>Introducción</a:t>
          </a:r>
          <a:endParaRPr lang="en-US" sz="2500" kern="1200"/>
        </a:p>
      </dsp:txBody>
      <dsp:txXfrm>
        <a:off x="29271" y="112165"/>
        <a:ext cx="5907749" cy="541083"/>
      </dsp:txXfrm>
    </dsp:sp>
    <dsp:sp modelId="{87FEFA00-4964-4293-94F6-CD9356BA001E}">
      <dsp:nvSpPr>
        <dsp:cNvPr id="0" name=""/>
        <dsp:cNvSpPr/>
      </dsp:nvSpPr>
      <dsp:spPr>
        <a:xfrm>
          <a:off x="0" y="754519"/>
          <a:ext cx="5966291" cy="599625"/>
        </a:xfrm>
        <a:prstGeom prst="roundRect">
          <a:avLst/>
        </a:prstGeom>
        <a:solidFill>
          <a:schemeClr val="accent5">
            <a:hueOff val="-1126424"/>
            <a:satOff val="-2903"/>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CL" sz="2500" kern="1200"/>
            <a:t>Servicio seleccionado</a:t>
          </a:r>
          <a:endParaRPr lang="en-US" sz="2500" kern="1200"/>
        </a:p>
      </dsp:txBody>
      <dsp:txXfrm>
        <a:off x="29271" y="783790"/>
        <a:ext cx="5907749" cy="541083"/>
      </dsp:txXfrm>
    </dsp:sp>
    <dsp:sp modelId="{E227AD49-19CD-41FD-A95C-DF67C373BCB9}">
      <dsp:nvSpPr>
        <dsp:cNvPr id="0" name=""/>
        <dsp:cNvSpPr/>
      </dsp:nvSpPr>
      <dsp:spPr>
        <a:xfrm>
          <a:off x="0" y="1426144"/>
          <a:ext cx="5966291" cy="599625"/>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CL" sz="2500" kern="1200"/>
            <a:t>Construcción de la variable</a:t>
          </a:r>
          <a:endParaRPr lang="en-US" sz="2500" kern="1200"/>
        </a:p>
      </dsp:txBody>
      <dsp:txXfrm>
        <a:off x="29271" y="1455415"/>
        <a:ext cx="5907749" cy="541083"/>
      </dsp:txXfrm>
    </dsp:sp>
    <dsp:sp modelId="{8974E0AD-DDBD-4F5E-8A3E-459F5C34236A}">
      <dsp:nvSpPr>
        <dsp:cNvPr id="0" name=""/>
        <dsp:cNvSpPr/>
      </dsp:nvSpPr>
      <dsp:spPr>
        <a:xfrm>
          <a:off x="0" y="2097769"/>
          <a:ext cx="5966291" cy="599625"/>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CL" sz="2500" kern="1200"/>
            <a:t>Análisis exploratorio</a:t>
          </a:r>
          <a:endParaRPr lang="en-US" sz="2500" kern="1200"/>
        </a:p>
      </dsp:txBody>
      <dsp:txXfrm>
        <a:off x="29271" y="2127040"/>
        <a:ext cx="5907749" cy="541083"/>
      </dsp:txXfrm>
    </dsp:sp>
    <dsp:sp modelId="{855DF5B5-B8B6-47AB-A27A-2A99BAF11F36}">
      <dsp:nvSpPr>
        <dsp:cNvPr id="0" name=""/>
        <dsp:cNvSpPr/>
      </dsp:nvSpPr>
      <dsp:spPr>
        <a:xfrm>
          <a:off x="0" y="2769394"/>
          <a:ext cx="5966291" cy="599625"/>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CL" sz="2500" kern="1200"/>
            <a:t>Modelo de dos partes</a:t>
          </a:r>
          <a:endParaRPr lang="en-US" sz="2500" kern="1200"/>
        </a:p>
      </dsp:txBody>
      <dsp:txXfrm>
        <a:off x="29271" y="2798665"/>
        <a:ext cx="5907749" cy="541083"/>
      </dsp:txXfrm>
    </dsp:sp>
    <dsp:sp modelId="{500FF1CE-F41C-4ED1-A44B-96A399D41894}">
      <dsp:nvSpPr>
        <dsp:cNvPr id="0" name=""/>
        <dsp:cNvSpPr/>
      </dsp:nvSpPr>
      <dsp:spPr>
        <a:xfrm>
          <a:off x="0" y="3369019"/>
          <a:ext cx="5966291" cy="685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9430"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s-CL" sz="2000" kern="1200"/>
            <a:t>Modelo Logit</a:t>
          </a:r>
          <a:endParaRPr lang="en-US" sz="2000" kern="1200"/>
        </a:p>
        <a:p>
          <a:pPr marL="228600" lvl="1" indent="-228600" algn="l" defTabSz="889000">
            <a:lnSpc>
              <a:spcPct val="90000"/>
            </a:lnSpc>
            <a:spcBef>
              <a:spcPct val="0"/>
            </a:spcBef>
            <a:spcAft>
              <a:spcPct val="20000"/>
            </a:spcAft>
            <a:buChar char="•"/>
          </a:pPr>
          <a:r>
            <a:rPr lang="es-CL" sz="2000" kern="1200"/>
            <a:t>Modelo de Regresión Lineal</a:t>
          </a:r>
          <a:endParaRPr lang="en-US" sz="2000" kern="1200"/>
        </a:p>
      </dsp:txBody>
      <dsp:txXfrm>
        <a:off x="0" y="3369019"/>
        <a:ext cx="5966291" cy="685687"/>
      </dsp:txXfrm>
    </dsp:sp>
    <dsp:sp modelId="{523FB315-59BF-487B-9858-2714602BCB9A}">
      <dsp:nvSpPr>
        <dsp:cNvPr id="0" name=""/>
        <dsp:cNvSpPr/>
      </dsp:nvSpPr>
      <dsp:spPr>
        <a:xfrm>
          <a:off x="0" y="4054707"/>
          <a:ext cx="5966291" cy="599625"/>
        </a:xfrm>
        <a:prstGeom prst="roundRect">
          <a:avLst/>
        </a:prstGeom>
        <a:solidFill>
          <a:schemeClr val="accent5">
            <a:hueOff val="-5632119"/>
            <a:satOff val="-14516"/>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CL" sz="2500" kern="1200"/>
            <a:t>Variable generada: Gasto esperado</a:t>
          </a:r>
          <a:endParaRPr lang="en-US" sz="2500" kern="1200"/>
        </a:p>
      </dsp:txBody>
      <dsp:txXfrm>
        <a:off x="29271" y="4083978"/>
        <a:ext cx="5907749" cy="541083"/>
      </dsp:txXfrm>
    </dsp:sp>
    <dsp:sp modelId="{3139AA66-69BA-4222-BAAC-7F6FB736F397}">
      <dsp:nvSpPr>
        <dsp:cNvPr id="0" name=""/>
        <dsp:cNvSpPr/>
      </dsp:nvSpPr>
      <dsp:spPr>
        <a:xfrm>
          <a:off x="0" y="4726332"/>
          <a:ext cx="5966291" cy="599625"/>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CL" sz="2500" kern="1200"/>
            <a:t>Conclusiones</a:t>
          </a:r>
          <a:endParaRPr lang="en-US" sz="2500" kern="1200"/>
        </a:p>
      </dsp:txBody>
      <dsp:txXfrm>
        <a:off x="29271" y="4755603"/>
        <a:ext cx="5907749" cy="5410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B00CAD-95CD-4550-A257-B98FAB2FD1DA}">
      <dsp:nvSpPr>
        <dsp:cNvPr id="0" name=""/>
        <dsp:cNvSpPr/>
      </dsp:nvSpPr>
      <dsp:spPr>
        <a:xfrm>
          <a:off x="3683" y="292861"/>
          <a:ext cx="1994182" cy="11965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CL" sz="2000" kern="1200" dirty="0"/>
            <a:t>1. Selección del servicio</a:t>
          </a:r>
        </a:p>
      </dsp:txBody>
      <dsp:txXfrm>
        <a:off x="3683" y="292861"/>
        <a:ext cx="1994182" cy="1196509"/>
      </dsp:txXfrm>
    </dsp:sp>
    <dsp:sp modelId="{994357AC-6F15-429A-AA85-61B37420E13A}">
      <dsp:nvSpPr>
        <dsp:cNvPr id="0" name=""/>
        <dsp:cNvSpPr/>
      </dsp:nvSpPr>
      <dsp:spPr>
        <a:xfrm>
          <a:off x="2197283" y="292861"/>
          <a:ext cx="1994182" cy="11965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CL" sz="2000" kern="1200" dirty="0"/>
            <a:t>2. Procesamiento de la EPF</a:t>
          </a:r>
        </a:p>
      </dsp:txBody>
      <dsp:txXfrm>
        <a:off x="2197283" y="292861"/>
        <a:ext cx="1994182" cy="1196509"/>
      </dsp:txXfrm>
    </dsp:sp>
    <dsp:sp modelId="{C9EDE22E-1D81-49A1-B1FD-2142BB8D3837}">
      <dsp:nvSpPr>
        <dsp:cNvPr id="0" name=""/>
        <dsp:cNvSpPr/>
      </dsp:nvSpPr>
      <dsp:spPr>
        <a:xfrm>
          <a:off x="4390883" y="292861"/>
          <a:ext cx="1994182" cy="11965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CL" sz="2000" kern="1200" dirty="0"/>
            <a:t>3. Limpieza y unión con CASEN</a:t>
          </a:r>
        </a:p>
      </dsp:txBody>
      <dsp:txXfrm>
        <a:off x="4390883" y="292861"/>
        <a:ext cx="1994182" cy="1196509"/>
      </dsp:txXfrm>
    </dsp:sp>
    <dsp:sp modelId="{0F7C1153-91D4-4599-B5D0-C76629C74805}">
      <dsp:nvSpPr>
        <dsp:cNvPr id="0" name=""/>
        <dsp:cNvSpPr/>
      </dsp:nvSpPr>
      <dsp:spPr>
        <a:xfrm>
          <a:off x="6584484" y="292861"/>
          <a:ext cx="1994182" cy="11965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CL" sz="2000" kern="1200"/>
            <a:t>4. Modelo de dos partes</a:t>
          </a:r>
        </a:p>
      </dsp:txBody>
      <dsp:txXfrm>
        <a:off x="6584484" y="292861"/>
        <a:ext cx="1994182" cy="1196509"/>
      </dsp:txXfrm>
    </dsp:sp>
    <dsp:sp modelId="{4F42388B-5F8D-444B-A475-50FC6760709C}">
      <dsp:nvSpPr>
        <dsp:cNvPr id="0" name=""/>
        <dsp:cNvSpPr/>
      </dsp:nvSpPr>
      <dsp:spPr>
        <a:xfrm>
          <a:off x="8778084" y="292861"/>
          <a:ext cx="1994182" cy="119650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CL" sz="2000" kern="1200"/>
            <a:t>5. Imputación del gasto en CASEN</a:t>
          </a:r>
        </a:p>
      </dsp:txBody>
      <dsp:txXfrm>
        <a:off x="8778084" y="292861"/>
        <a:ext cx="1994182" cy="11965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078953-E5B1-4814-AE15-17C0D1F19F44}">
      <dsp:nvSpPr>
        <dsp:cNvPr id="0" name=""/>
        <dsp:cNvSpPr/>
      </dsp:nvSpPr>
      <dsp:spPr>
        <a:xfrm>
          <a:off x="1915194" y="2975"/>
          <a:ext cx="6685210" cy="434538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s-CL" sz="3000" kern="1200"/>
            <a:t>Se define como el servicio a evaluar: Todos los gastos del hogar clasificados en las categorías del CCIF como:</a:t>
          </a:r>
          <a:endParaRPr lang="en-US" sz="3000" kern="1200"/>
        </a:p>
        <a:p>
          <a:pPr marL="228600" lvl="1" indent="-228600" algn="l" defTabSz="1022350">
            <a:lnSpc>
              <a:spcPct val="90000"/>
            </a:lnSpc>
            <a:spcBef>
              <a:spcPct val="0"/>
            </a:spcBef>
            <a:spcAft>
              <a:spcPct val="15000"/>
            </a:spcAft>
            <a:buChar char="•"/>
          </a:pPr>
          <a:r>
            <a:rPr lang="es-CL" sz="2300" kern="1200"/>
            <a:t>Restaurantes</a:t>
          </a:r>
          <a:endParaRPr lang="en-US" sz="2300" kern="1200"/>
        </a:p>
        <a:p>
          <a:pPr marL="228600" lvl="1" indent="-228600" algn="l" defTabSz="1022350">
            <a:lnSpc>
              <a:spcPct val="90000"/>
            </a:lnSpc>
            <a:spcBef>
              <a:spcPct val="0"/>
            </a:spcBef>
            <a:spcAft>
              <a:spcPct val="15000"/>
            </a:spcAft>
            <a:buChar char="•"/>
          </a:pPr>
          <a:r>
            <a:rPr lang="es-CL" sz="2300" kern="1200"/>
            <a:t>Comida rápida</a:t>
          </a:r>
          <a:endParaRPr lang="en-US" sz="2300" kern="1200"/>
        </a:p>
        <a:p>
          <a:pPr marL="228600" lvl="1" indent="-228600" algn="l" defTabSz="1022350">
            <a:lnSpc>
              <a:spcPct val="90000"/>
            </a:lnSpc>
            <a:spcBef>
              <a:spcPct val="0"/>
            </a:spcBef>
            <a:spcAft>
              <a:spcPct val="15000"/>
            </a:spcAft>
            <a:buChar char="•"/>
          </a:pPr>
          <a:r>
            <a:rPr lang="es-CL" sz="2300" kern="1200"/>
            <a:t>Servicio limitado</a:t>
          </a:r>
          <a:endParaRPr lang="en-US" sz="2300" kern="1200"/>
        </a:p>
        <a:p>
          <a:pPr marL="228600" lvl="1" indent="-228600" algn="l" defTabSz="1022350">
            <a:lnSpc>
              <a:spcPct val="90000"/>
            </a:lnSpc>
            <a:spcBef>
              <a:spcPct val="0"/>
            </a:spcBef>
            <a:spcAft>
              <a:spcPct val="15000"/>
            </a:spcAft>
            <a:buChar char="•"/>
          </a:pPr>
          <a:r>
            <a:rPr lang="es-CL" sz="2300" kern="1200"/>
            <a:t>Comercio ambulante</a:t>
          </a:r>
          <a:endParaRPr lang="en-US" sz="2300" kern="1200"/>
        </a:p>
        <a:p>
          <a:pPr marL="228600" lvl="1" indent="-228600" algn="l" defTabSz="1022350">
            <a:lnSpc>
              <a:spcPct val="90000"/>
            </a:lnSpc>
            <a:spcBef>
              <a:spcPct val="0"/>
            </a:spcBef>
            <a:spcAft>
              <a:spcPct val="15000"/>
            </a:spcAft>
            <a:buChar char="•"/>
          </a:pPr>
          <a:r>
            <a:rPr lang="es-CL" sz="2300" kern="1200"/>
            <a:t>Delivery</a:t>
          </a:r>
          <a:endParaRPr lang="en-US" sz="2300" kern="1200"/>
        </a:p>
      </dsp:txBody>
      <dsp:txXfrm>
        <a:off x="2127318" y="215099"/>
        <a:ext cx="6260962" cy="39211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E2C2A3-DD7F-4D02-8779-8E391B596DE3}">
      <dsp:nvSpPr>
        <dsp:cNvPr id="0" name=""/>
        <dsp:cNvSpPr/>
      </dsp:nvSpPr>
      <dsp:spPr>
        <a:xfrm>
          <a:off x="9242" y="1191564"/>
          <a:ext cx="2762398" cy="19682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L" sz="1800" kern="1200" dirty="0"/>
            <a:t>Selección de gastos fuera del hogar</a:t>
          </a:r>
        </a:p>
      </dsp:txBody>
      <dsp:txXfrm>
        <a:off x="66889" y="1249211"/>
        <a:ext cx="2647104" cy="1852915"/>
      </dsp:txXfrm>
    </dsp:sp>
    <dsp:sp modelId="{3641B166-C92B-4CD6-9146-6F1E99A42D44}">
      <dsp:nvSpPr>
        <dsp:cNvPr id="0" name=""/>
        <dsp:cNvSpPr/>
      </dsp:nvSpPr>
      <dsp:spPr>
        <a:xfrm>
          <a:off x="3047880" y="1833131"/>
          <a:ext cx="585628" cy="68507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CL" sz="1400" kern="1200"/>
        </a:p>
      </dsp:txBody>
      <dsp:txXfrm>
        <a:off x="3047880" y="1970146"/>
        <a:ext cx="409940" cy="411044"/>
      </dsp:txXfrm>
    </dsp:sp>
    <dsp:sp modelId="{4DB9203C-4067-45DE-B0E5-2A6BD96B8C03}">
      <dsp:nvSpPr>
        <dsp:cNvPr id="0" name=""/>
        <dsp:cNvSpPr/>
      </dsp:nvSpPr>
      <dsp:spPr>
        <a:xfrm>
          <a:off x="3876600" y="1191564"/>
          <a:ext cx="2762398" cy="19682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L" sz="1800" kern="1200" dirty="0"/>
            <a:t>Suma de gastos por hogar (folio)</a:t>
          </a:r>
        </a:p>
      </dsp:txBody>
      <dsp:txXfrm>
        <a:off x="3934247" y="1249211"/>
        <a:ext cx="2647104" cy="1852915"/>
      </dsp:txXfrm>
    </dsp:sp>
    <dsp:sp modelId="{1EA73AEA-087A-4508-B7EE-020557C21797}">
      <dsp:nvSpPr>
        <dsp:cNvPr id="0" name=""/>
        <dsp:cNvSpPr/>
      </dsp:nvSpPr>
      <dsp:spPr>
        <a:xfrm>
          <a:off x="6915239" y="1833131"/>
          <a:ext cx="585628" cy="68507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CL" sz="1400" kern="1200"/>
        </a:p>
      </dsp:txBody>
      <dsp:txXfrm>
        <a:off x="6915239" y="1970146"/>
        <a:ext cx="409940" cy="411044"/>
      </dsp:txXfrm>
    </dsp:sp>
    <dsp:sp modelId="{D0707EB4-A03B-4749-B028-17308F7FBD0D}">
      <dsp:nvSpPr>
        <dsp:cNvPr id="0" name=""/>
        <dsp:cNvSpPr/>
      </dsp:nvSpPr>
      <dsp:spPr>
        <a:xfrm>
          <a:off x="7743958" y="1191564"/>
          <a:ext cx="2762398" cy="196820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L" sz="1800" kern="1200" dirty="0"/>
            <a:t>Se obtuvo a través de el uso de 2 modelos:</a:t>
          </a:r>
        </a:p>
        <a:p>
          <a:pPr marL="0" lvl="0" indent="0" algn="ctr" defTabSz="800100">
            <a:lnSpc>
              <a:spcPct val="90000"/>
            </a:lnSpc>
            <a:spcBef>
              <a:spcPct val="0"/>
            </a:spcBef>
            <a:spcAft>
              <a:spcPct val="35000"/>
            </a:spcAft>
            <a:buNone/>
          </a:pPr>
          <a:r>
            <a:rPr lang="es-CL" sz="1800" kern="1200" dirty="0"/>
            <a:t>- Variable Continua: Gasto por hogar</a:t>
          </a:r>
        </a:p>
        <a:p>
          <a:pPr marL="0" lvl="0" indent="0" algn="ctr" defTabSz="800100">
            <a:lnSpc>
              <a:spcPct val="90000"/>
            </a:lnSpc>
            <a:spcBef>
              <a:spcPct val="0"/>
            </a:spcBef>
            <a:spcAft>
              <a:spcPct val="35000"/>
            </a:spcAft>
            <a:buNone/>
          </a:pPr>
          <a:r>
            <a:rPr lang="es-CL" sz="1800" kern="1200" dirty="0"/>
            <a:t>- Variable </a:t>
          </a:r>
          <a:r>
            <a:rPr lang="es-CL" sz="1800" kern="1200" dirty="0" err="1"/>
            <a:t>dummy</a:t>
          </a:r>
          <a:r>
            <a:rPr lang="es-CL" sz="1800" kern="1200" dirty="0"/>
            <a:t>: si el hogar gasta o no </a:t>
          </a:r>
        </a:p>
      </dsp:txBody>
      <dsp:txXfrm>
        <a:off x="7801605" y="1249211"/>
        <a:ext cx="2647104" cy="185291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E7F881-7E7A-42A2-AB03-4BD409C9967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5587CF48-1E17-42FC-9912-62FC8C7010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B730DC62-5284-444C-ADA0-E33F1D94A938}"/>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5" name="Marcador de pie de página 4">
            <a:extLst>
              <a:ext uri="{FF2B5EF4-FFF2-40B4-BE49-F238E27FC236}">
                <a16:creationId xmlns:a16="http://schemas.microsoft.com/office/drawing/2014/main" id="{68DC41D3-73BB-40CA-A2A6-A7B810C9588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327C9B1-F270-4234-A2C8-B3F957488B51}"/>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3672265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E9CBD0-F9A8-4F7C-A78D-FE553BE33677}"/>
              </a:ext>
            </a:extLst>
          </p:cNvPr>
          <p:cNvSpPr>
            <a:spLocks noGrp="1"/>
          </p:cNvSpPr>
          <p:nvPr>
            <p:ph type="title"/>
          </p:nvPr>
        </p:nvSpPr>
        <p:spPr/>
        <p:txBody>
          <a:bodyPr/>
          <a:lstStyle/>
          <a:p>
            <a:r>
              <a:rPr lang="es-ES" dirty="0"/>
              <a:t>Haga clic para modificar el estilo de título del patrón</a:t>
            </a:r>
            <a:endParaRPr lang="es-CL" dirty="0"/>
          </a:p>
        </p:txBody>
      </p:sp>
      <p:sp>
        <p:nvSpPr>
          <p:cNvPr id="3" name="Marcador de contenido 2">
            <a:extLst>
              <a:ext uri="{FF2B5EF4-FFF2-40B4-BE49-F238E27FC236}">
                <a16:creationId xmlns:a16="http://schemas.microsoft.com/office/drawing/2014/main" id="{1F8AEE33-0300-435E-A58D-1179A29E8D90}"/>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897E4DB8-5C37-473E-9CF3-F398156E0252}"/>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5" name="Marcador de pie de página 4">
            <a:extLst>
              <a:ext uri="{FF2B5EF4-FFF2-40B4-BE49-F238E27FC236}">
                <a16:creationId xmlns:a16="http://schemas.microsoft.com/office/drawing/2014/main" id="{5F94AE8F-F369-4771-9FEC-EF42247F3D39}"/>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41C747E-8B93-4D09-B302-F17624C3E23C}"/>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371860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231033-3742-49CE-A9A2-C42BD60D610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FA6BF2FA-3B6D-40ED-8F22-4CE59FBE54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Marcador de fecha 3">
            <a:extLst>
              <a:ext uri="{FF2B5EF4-FFF2-40B4-BE49-F238E27FC236}">
                <a16:creationId xmlns:a16="http://schemas.microsoft.com/office/drawing/2014/main" id="{1DF931EC-EDD5-4196-9F0F-DC03EFE8C669}"/>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5" name="Marcador de pie de página 4">
            <a:extLst>
              <a:ext uri="{FF2B5EF4-FFF2-40B4-BE49-F238E27FC236}">
                <a16:creationId xmlns:a16="http://schemas.microsoft.com/office/drawing/2014/main" id="{1071CBDF-8031-4F53-9181-606BDF55AB9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C15D10E-7D4F-40E8-82F5-CEAB8A834E52}"/>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1988639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395294-4072-490D-A039-5D818BAEAAB7}"/>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B0000E41-75FC-49A6-8073-492BC29E6264}"/>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D4E1D932-5A65-498C-AFFA-67FD471E801D}"/>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E2D37AE-A57E-446F-B245-B1F4B92BFFE8}"/>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6" name="Marcador de pie de página 5">
            <a:extLst>
              <a:ext uri="{FF2B5EF4-FFF2-40B4-BE49-F238E27FC236}">
                <a16:creationId xmlns:a16="http://schemas.microsoft.com/office/drawing/2014/main" id="{E1725711-AE8C-4D43-8E8D-3F7FDFBAD34B}"/>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B1DEDF7-CD02-49B8-886B-B4F14D92CF3D}"/>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2951722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8D8371-41DA-4FB9-9EAA-6587FBF53B5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F501CC30-E837-49FE-9147-6F1FE2CFBB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8B115255-0D14-427D-9E50-B901847735C3}"/>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AE442614-286F-4437-9A74-0367ECFF63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59C9F7DD-EB33-48AC-B40F-2790B52446F5}"/>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2E398B42-788C-426B-BC79-1C69A0A776F5}"/>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8" name="Marcador de pie de página 7">
            <a:extLst>
              <a:ext uri="{FF2B5EF4-FFF2-40B4-BE49-F238E27FC236}">
                <a16:creationId xmlns:a16="http://schemas.microsoft.com/office/drawing/2014/main" id="{79F5E8FE-5B69-450E-BDA4-BE7AB925B1C2}"/>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A9B5E24D-2EA5-45FA-9223-38A1AAD9243B}"/>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518687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828E71-317B-4D96-9353-A39A49E923A8}"/>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984BD1B7-D5BE-4916-9029-9B72BFAB9F8F}"/>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4" name="Marcador de pie de página 3">
            <a:extLst>
              <a:ext uri="{FF2B5EF4-FFF2-40B4-BE49-F238E27FC236}">
                <a16:creationId xmlns:a16="http://schemas.microsoft.com/office/drawing/2014/main" id="{88878411-3DD4-413F-A3BC-C0BF18B31BB7}"/>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9E6537CA-DF42-44FD-AEE1-39D89D6C4823}"/>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3855754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7FDC410-F9E2-42E1-B29F-D27075EFFE65}"/>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3" name="Marcador de pie de página 2">
            <a:extLst>
              <a:ext uri="{FF2B5EF4-FFF2-40B4-BE49-F238E27FC236}">
                <a16:creationId xmlns:a16="http://schemas.microsoft.com/office/drawing/2014/main" id="{CA14E991-545A-41DE-B216-60119D82E925}"/>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CE666BED-267C-4EBE-BBDE-F1A1828130EB}"/>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684087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47E7AD-0239-4D71-8522-DD60718C9C4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8BDE8EE7-FEE1-43AB-9A99-2959550B7B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7DBD5AA3-D103-4A9F-BBDD-5D70844920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5C27D2E7-3EC8-405E-9DAE-C14306EC4196}"/>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6" name="Marcador de pie de página 5">
            <a:extLst>
              <a:ext uri="{FF2B5EF4-FFF2-40B4-BE49-F238E27FC236}">
                <a16:creationId xmlns:a16="http://schemas.microsoft.com/office/drawing/2014/main" id="{6F4DDD23-5A21-4EAA-88C7-B889C2C79DDD}"/>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E5035A4B-DC69-47ED-BD59-047D3D59B534}"/>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878181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784379-0B94-4277-8EAA-756F239E7A2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C0C329CD-10AE-4DCA-8856-D27A044DF4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8C03C0D1-F85D-4DA9-BDDE-A63E39145F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15222B7E-BB18-4169-BD2E-BF5A2CE1FD04}"/>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6" name="Marcador de pie de página 5">
            <a:extLst>
              <a:ext uri="{FF2B5EF4-FFF2-40B4-BE49-F238E27FC236}">
                <a16:creationId xmlns:a16="http://schemas.microsoft.com/office/drawing/2014/main" id="{CE397AEE-F322-4769-8DD6-26D8E4560FFD}"/>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757039A-8640-4D2D-8ED7-F816216D544F}"/>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4117777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9E1C0B-4227-42F9-9CDD-F7FBC05A392B}"/>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C950B8B6-4996-4788-87C2-11064F30CFB4}"/>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C2B8CD7E-9594-4BC1-9549-A4D70A37EA65}"/>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5" name="Marcador de pie de página 4">
            <a:extLst>
              <a:ext uri="{FF2B5EF4-FFF2-40B4-BE49-F238E27FC236}">
                <a16:creationId xmlns:a16="http://schemas.microsoft.com/office/drawing/2014/main" id="{44F6C718-751C-4BBD-B568-363D8A1C0F58}"/>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C04483B6-E473-4EA8-89F7-6D352594510A}"/>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583522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AA4AAE6-179E-4285-B8B6-212DBE5C435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87CC598C-BD17-4123-B58B-168A82A8B719}"/>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BE1F19BC-782F-4A3E-B7DF-D1BC4A510BDA}"/>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5" name="Marcador de pie de página 4">
            <a:extLst>
              <a:ext uri="{FF2B5EF4-FFF2-40B4-BE49-F238E27FC236}">
                <a16:creationId xmlns:a16="http://schemas.microsoft.com/office/drawing/2014/main" id="{40F7B50B-52CD-4B4C-ADA0-57EFE19289F4}"/>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7A5A239-CB30-472D-914D-307F1D0FF413}"/>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40689564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iseño personalizado">
    <p:spTree>
      <p:nvGrpSpPr>
        <p:cNvPr id="1" name=""/>
        <p:cNvGrpSpPr/>
        <p:nvPr/>
      </p:nvGrpSpPr>
      <p:grpSpPr>
        <a:xfrm>
          <a:off x="0" y="0"/>
          <a:ext cx="0" cy="0"/>
          <a:chOff x="0" y="0"/>
          <a:chExt cx="0" cy="0"/>
        </a:xfrm>
      </p:grpSpPr>
      <p:pic>
        <p:nvPicPr>
          <p:cNvPr id="6" name="Imagen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27451"/>
            <a:ext cx="12191998" cy="6912901"/>
          </a:xfrm>
          <a:prstGeom prst="rect">
            <a:avLst/>
          </a:prstGeom>
        </p:spPr>
      </p:pic>
    </p:spTree>
    <p:extLst>
      <p:ext uri="{BB962C8B-B14F-4D97-AF65-F5344CB8AC3E}">
        <p14:creationId xmlns:p14="http://schemas.microsoft.com/office/powerpoint/2010/main" val="1491346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DF9CF7-6F66-054D-98F8-0F234A10911E}"/>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L"/>
          </a:p>
        </p:txBody>
      </p:sp>
      <p:sp>
        <p:nvSpPr>
          <p:cNvPr id="3" name="Subtítulo 2">
            <a:extLst>
              <a:ext uri="{FF2B5EF4-FFF2-40B4-BE49-F238E27FC236}">
                <a16:creationId xmlns:a16="http://schemas.microsoft.com/office/drawing/2014/main" id="{674E0B04-634D-C743-A2AC-995D81BE8D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L"/>
          </a:p>
        </p:txBody>
      </p:sp>
      <p:sp>
        <p:nvSpPr>
          <p:cNvPr id="4" name="Marcador de fecha 3">
            <a:extLst>
              <a:ext uri="{FF2B5EF4-FFF2-40B4-BE49-F238E27FC236}">
                <a16:creationId xmlns:a16="http://schemas.microsoft.com/office/drawing/2014/main" id="{A53C37CF-67D0-104D-BF32-63E5BF969283}"/>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5" name="Marcador de pie de página 4">
            <a:extLst>
              <a:ext uri="{FF2B5EF4-FFF2-40B4-BE49-F238E27FC236}">
                <a16:creationId xmlns:a16="http://schemas.microsoft.com/office/drawing/2014/main" id="{5D9798C9-8676-0B41-92E3-05211563F90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A08F2E5-26A5-0C45-B924-223486A7ED2E}"/>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20654630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18CDDC-2364-F646-BE5E-0C14EEDFA1E1}"/>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C7B57612-F252-824C-8C6C-1B711BF4EEF6}"/>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F19FE806-DCCA-0345-8849-5AB27C0519E3}"/>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5" name="Marcador de pie de página 4">
            <a:extLst>
              <a:ext uri="{FF2B5EF4-FFF2-40B4-BE49-F238E27FC236}">
                <a16:creationId xmlns:a16="http://schemas.microsoft.com/office/drawing/2014/main" id="{528097E5-9B1C-B548-A703-4B5F6C33514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D889015F-5F06-7E45-8B6B-D402CA2AF838}"/>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3322828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34B47C-25AF-B349-B6C9-EF8FC21C4B32}"/>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EE16E1D3-31DB-7D42-B45B-9C4E11CCC2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5C303F42-98DC-6C40-95EC-D87824B48E14}"/>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5" name="Marcador de pie de página 4">
            <a:extLst>
              <a:ext uri="{FF2B5EF4-FFF2-40B4-BE49-F238E27FC236}">
                <a16:creationId xmlns:a16="http://schemas.microsoft.com/office/drawing/2014/main" id="{462B9517-3F0B-EC4A-8EA8-34912021CEA9}"/>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8C95985-731E-2B4B-AC24-E51AF8585670}"/>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2721435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ECF2FF-EDF9-0047-BE55-6B705A57AFB2}"/>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AFA51CE6-72A7-7240-A0E3-ED880E0D3B13}"/>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contenido 3">
            <a:extLst>
              <a:ext uri="{FF2B5EF4-FFF2-40B4-BE49-F238E27FC236}">
                <a16:creationId xmlns:a16="http://schemas.microsoft.com/office/drawing/2014/main" id="{1EBC62D3-C6B9-164B-8A7F-0BE22F2DB69D}"/>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5" name="Marcador de fecha 4">
            <a:extLst>
              <a:ext uri="{FF2B5EF4-FFF2-40B4-BE49-F238E27FC236}">
                <a16:creationId xmlns:a16="http://schemas.microsoft.com/office/drawing/2014/main" id="{96116DD8-D249-EE47-A182-4FE53317D777}"/>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6" name="Marcador de pie de página 5">
            <a:extLst>
              <a:ext uri="{FF2B5EF4-FFF2-40B4-BE49-F238E27FC236}">
                <a16:creationId xmlns:a16="http://schemas.microsoft.com/office/drawing/2014/main" id="{881398FE-F199-804B-9110-2121E0066D6E}"/>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F48AB4A9-0403-6A40-A784-2B88654CBCA7}"/>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3191322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E979E6-2584-7941-859F-CCDAA3084F28}"/>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EF63F72D-0059-0240-AB3F-6BCE566B63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E918A09E-7E2B-8E4C-A908-BA8C90314F0A}"/>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5" name="Marcador de texto 4">
            <a:extLst>
              <a:ext uri="{FF2B5EF4-FFF2-40B4-BE49-F238E27FC236}">
                <a16:creationId xmlns:a16="http://schemas.microsoft.com/office/drawing/2014/main" id="{98F27A18-E047-0749-AF16-01534901A7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AC8C5ED6-1D34-7047-AA50-45B7016149FB}"/>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7" name="Marcador de fecha 6">
            <a:extLst>
              <a:ext uri="{FF2B5EF4-FFF2-40B4-BE49-F238E27FC236}">
                <a16:creationId xmlns:a16="http://schemas.microsoft.com/office/drawing/2014/main" id="{F9DB9A75-33FC-1941-BDDD-4219DC3C9BE0}"/>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8" name="Marcador de pie de página 7">
            <a:extLst>
              <a:ext uri="{FF2B5EF4-FFF2-40B4-BE49-F238E27FC236}">
                <a16:creationId xmlns:a16="http://schemas.microsoft.com/office/drawing/2014/main" id="{7B091A54-B7CF-5A47-8DC3-59913657895D}"/>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528E158F-7CE7-104F-B3EE-DF171B7DDDA5}"/>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28755282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C6555B-BC4B-9F47-B9A0-BF126194178B}"/>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fecha 2">
            <a:extLst>
              <a:ext uri="{FF2B5EF4-FFF2-40B4-BE49-F238E27FC236}">
                <a16:creationId xmlns:a16="http://schemas.microsoft.com/office/drawing/2014/main" id="{85005E2F-78D1-9941-95E0-DEDFDE2CAFEF}"/>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4" name="Marcador de pie de página 3">
            <a:extLst>
              <a:ext uri="{FF2B5EF4-FFF2-40B4-BE49-F238E27FC236}">
                <a16:creationId xmlns:a16="http://schemas.microsoft.com/office/drawing/2014/main" id="{EA537C24-F204-B949-9958-536172934D10}"/>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D255C051-F3AC-A841-AA92-C048A9873378}"/>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29935187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CA687E6-1053-FD4F-B346-5B69CC5C7359}"/>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3" name="Marcador de pie de página 2">
            <a:extLst>
              <a:ext uri="{FF2B5EF4-FFF2-40B4-BE49-F238E27FC236}">
                <a16:creationId xmlns:a16="http://schemas.microsoft.com/office/drawing/2014/main" id="{C67E3E83-69B3-C946-B8D9-81C00F78C0DE}"/>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627ABDB2-8FC3-E145-9173-C936CD342BA0}"/>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6618793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832CF5-4000-1F41-B68B-1BFD5DB8B4E3}"/>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F6ACC959-333A-6744-9A12-BC02AA713A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texto 3">
            <a:extLst>
              <a:ext uri="{FF2B5EF4-FFF2-40B4-BE49-F238E27FC236}">
                <a16:creationId xmlns:a16="http://schemas.microsoft.com/office/drawing/2014/main" id="{E5B207A5-BF06-B64F-A6F8-83023455F9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FAA044C3-70CA-C64E-B7DC-19C91DCD6C20}"/>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6" name="Marcador de pie de página 5">
            <a:extLst>
              <a:ext uri="{FF2B5EF4-FFF2-40B4-BE49-F238E27FC236}">
                <a16:creationId xmlns:a16="http://schemas.microsoft.com/office/drawing/2014/main" id="{F1E8870F-E31A-414D-989B-B9CA4A0C2AF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4B37A9CE-B793-E743-9195-E939563260EB}"/>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16180375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EE9A90-C190-A048-88FF-DD36EC613D80}"/>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L"/>
          </a:p>
        </p:txBody>
      </p:sp>
      <p:sp>
        <p:nvSpPr>
          <p:cNvPr id="3" name="Marcador de posición de imagen 2">
            <a:extLst>
              <a:ext uri="{FF2B5EF4-FFF2-40B4-BE49-F238E27FC236}">
                <a16:creationId xmlns:a16="http://schemas.microsoft.com/office/drawing/2014/main" id="{177E14FB-25C2-4341-BAC5-B31EBB1297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BF900A6A-696B-7344-896D-598C1D5789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B529C7F6-1A69-F54E-9DBB-E549E66F911D}"/>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6" name="Marcador de pie de página 5">
            <a:extLst>
              <a:ext uri="{FF2B5EF4-FFF2-40B4-BE49-F238E27FC236}">
                <a16:creationId xmlns:a16="http://schemas.microsoft.com/office/drawing/2014/main" id="{E9631E45-3928-124C-8F25-E5D7D546DA88}"/>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61F6EDFC-D0E8-3646-A0BB-EE83F78A1AA5}"/>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17917560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31B03E-04CD-3146-9323-359C477C350C}"/>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texto vertical 2">
            <a:extLst>
              <a:ext uri="{FF2B5EF4-FFF2-40B4-BE49-F238E27FC236}">
                <a16:creationId xmlns:a16="http://schemas.microsoft.com/office/drawing/2014/main" id="{8E8B243C-0813-C54C-9416-8C5183312C65}"/>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8A462910-29A6-324E-9955-315D6CBE470A}"/>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5" name="Marcador de pie de página 4">
            <a:extLst>
              <a:ext uri="{FF2B5EF4-FFF2-40B4-BE49-F238E27FC236}">
                <a16:creationId xmlns:a16="http://schemas.microsoft.com/office/drawing/2014/main" id="{4B682EB6-C024-7946-92DD-25A427FF73BA}"/>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68027C5-2F21-D349-AEF6-5003F53CAB34}"/>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37753871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3C74D8E-BFF8-0D45-9225-1E92E9F901A3}"/>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L"/>
          </a:p>
        </p:txBody>
      </p:sp>
      <p:sp>
        <p:nvSpPr>
          <p:cNvPr id="3" name="Marcador de texto vertical 2">
            <a:extLst>
              <a:ext uri="{FF2B5EF4-FFF2-40B4-BE49-F238E27FC236}">
                <a16:creationId xmlns:a16="http://schemas.microsoft.com/office/drawing/2014/main" id="{2D44FDCE-B976-364A-A776-B8D03B783457}"/>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0AC374F2-9E5D-5D4A-880A-B66001FC72CF}"/>
              </a:ext>
            </a:extLst>
          </p:cNvPr>
          <p:cNvSpPr>
            <a:spLocks noGrp="1"/>
          </p:cNvSpPr>
          <p:nvPr>
            <p:ph type="dt" sz="half" idx="10"/>
          </p:nvPr>
        </p:nvSpPr>
        <p:spPr/>
        <p:txBody>
          <a:bodyPr/>
          <a:lstStyle/>
          <a:p>
            <a:fld id="{7315C47C-3DDD-4168-A2CA-6BB569EC1DBF}" type="datetimeFigureOut">
              <a:rPr lang="es-CL" smtClean="0"/>
              <a:t>19-12-2025</a:t>
            </a:fld>
            <a:endParaRPr lang="es-CL"/>
          </a:p>
        </p:txBody>
      </p:sp>
      <p:sp>
        <p:nvSpPr>
          <p:cNvPr id="5" name="Marcador de pie de página 4">
            <a:extLst>
              <a:ext uri="{FF2B5EF4-FFF2-40B4-BE49-F238E27FC236}">
                <a16:creationId xmlns:a16="http://schemas.microsoft.com/office/drawing/2014/main" id="{DE913ADA-CE51-D34D-84CA-461BB1646D84}"/>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44A22CB-A67E-7C4A-852C-656CA1BC58A7}"/>
              </a:ext>
            </a:extLst>
          </p:cNvPr>
          <p:cNvSpPr>
            <a:spLocks noGrp="1"/>
          </p:cNvSpPr>
          <p:nvPr>
            <p:ph type="sldNum" sz="quarter" idx="12"/>
          </p:nvPr>
        </p:nvSpPr>
        <p:spPr/>
        <p:txBody>
          <a:bodyPr/>
          <a:lstStyle/>
          <a:p>
            <a:fld id="{C7916C66-CE7D-49F9-91E1-02E5E62A1EEA}" type="slidenum">
              <a:rPr lang="es-CL" smtClean="0"/>
              <a:t>‹Nº›</a:t>
            </a:fld>
            <a:endParaRPr lang="es-CL"/>
          </a:p>
        </p:txBody>
      </p:sp>
    </p:spTree>
    <p:extLst>
      <p:ext uri="{BB962C8B-B14F-4D97-AF65-F5344CB8AC3E}">
        <p14:creationId xmlns:p14="http://schemas.microsoft.com/office/powerpoint/2010/main" val="964758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Diseño personalizado">
    <p:spTree>
      <p:nvGrpSpPr>
        <p:cNvPr id="1" name=""/>
        <p:cNvGrpSpPr/>
        <p:nvPr/>
      </p:nvGrpSpPr>
      <p:grpSpPr>
        <a:xfrm>
          <a:off x="0" y="0"/>
          <a:ext cx="0" cy="0"/>
          <a:chOff x="0" y="0"/>
          <a:chExt cx="0" cy="0"/>
        </a:xfrm>
      </p:grpSpPr>
      <p:pic>
        <p:nvPicPr>
          <p:cNvPr id="6" name="Imagen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27451"/>
            <a:ext cx="12191998" cy="6912901"/>
          </a:xfrm>
          <a:prstGeom prst="rect">
            <a:avLst/>
          </a:prstGeom>
        </p:spPr>
      </p:pic>
    </p:spTree>
    <p:extLst>
      <p:ext uri="{BB962C8B-B14F-4D97-AF65-F5344CB8AC3E}">
        <p14:creationId xmlns:p14="http://schemas.microsoft.com/office/powerpoint/2010/main" val="236559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C0C3137-72D4-4BE4-9F8B-299C1F7219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615A72AB-47CE-4F41-B378-05B8CAF839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EC61EC6-802B-4783-ACA1-3C65247829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15C47C-3DDD-4168-A2CA-6BB569EC1DBF}" type="datetimeFigureOut">
              <a:rPr lang="es-CL" smtClean="0"/>
              <a:t>19-12-2025</a:t>
            </a:fld>
            <a:endParaRPr lang="es-CL"/>
          </a:p>
        </p:txBody>
      </p:sp>
      <p:sp>
        <p:nvSpPr>
          <p:cNvPr id="5" name="Marcador de pie de página 4">
            <a:extLst>
              <a:ext uri="{FF2B5EF4-FFF2-40B4-BE49-F238E27FC236}">
                <a16:creationId xmlns:a16="http://schemas.microsoft.com/office/drawing/2014/main" id="{A08A8810-A4CE-4993-8840-D90A3489C4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ABC1A242-4392-40BC-9DBB-B6B36179C9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916C66-CE7D-49F9-91E1-02E5E62A1EEA}" type="slidenum">
              <a:rPr lang="es-CL" smtClean="0"/>
              <a:t>‹Nº›</a:t>
            </a:fld>
            <a:endParaRPr lang="es-CL"/>
          </a:p>
        </p:txBody>
      </p:sp>
    </p:spTree>
    <p:extLst>
      <p:ext uri="{BB962C8B-B14F-4D97-AF65-F5344CB8AC3E}">
        <p14:creationId xmlns:p14="http://schemas.microsoft.com/office/powerpoint/2010/main" val="21904145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0E41CA3-8D92-1C4F-980D-0362C833D3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49BF8598-311B-8640-9212-C19431441D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1113AAA7-0FBC-AB4E-808B-650577A053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15C47C-3DDD-4168-A2CA-6BB569EC1DBF}" type="datetimeFigureOut">
              <a:rPr lang="es-CL" smtClean="0"/>
              <a:t>19-12-2025</a:t>
            </a:fld>
            <a:endParaRPr lang="es-CL"/>
          </a:p>
        </p:txBody>
      </p:sp>
      <p:sp>
        <p:nvSpPr>
          <p:cNvPr id="5" name="Marcador de pie de página 4">
            <a:extLst>
              <a:ext uri="{FF2B5EF4-FFF2-40B4-BE49-F238E27FC236}">
                <a16:creationId xmlns:a16="http://schemas.microsoft.com/office/drawing/2014/main" id="{9E70EABB-8162-2C49-8AE9-C81B7DBACD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DEB21562-F758-B645-9D7B-BAE18886E2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916C66-CE7D-49F9-91E1-02E5E62A1EEA}" type="slidenum">
              <a:rPr lang="es-CL" smtClean="0"/>
              <a:t>‹Nº›</a:t>
            </a:fld>
            <a:endParaRPr lang="es-CL"/>
          </a:p>
        </p:txBody>
      </p:sp>
    </p:spTree>
    <p:extLst>
      <p:ext uri="{BB962C8B-B14F-4D97-AF65-F5344CB8AC3E}">
        <p14:creationId xmlns:p14="http://schemas.microsoft.com/office/powerpoint/2010/main" val="343525713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emf"/><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package" Target="../embeddings/Microsoft_Excel_Worksheet.xlsx"/><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package" Target="../embeddings/Microsoft_Excel_Worksheet1.xlsx"/></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1BB0F95-40B8-FEDF-4078-E0E0CD491EB5}"/>
              </a:ext>
            </a:extLst>
          </p:cNvPr>
          <p:cNvSpPr/>
          <p:nvPr/>
        </p:nvSpPr>
        <p:spPr>
          <a:xfrm>
            <a:off x="519826" y="3653590"/>
            <a:ext cx="11152348" cy="584775"/>
          </a:xfrm>
          <a:prstGeom prst="rect">
            <a:avLst/>
          </a:prstGeom>
          <a:noFill/>
        </p:spPr>
        <p:txBody>
          <a:bodyPr wrap="none" lIns="91440" tIns="45720" rIns="91440" bIns="45720">
            <a:spAutoFit/>
          </a:bodyPr>
          <a:lstStyle/>
          <a:p>
            <a:pPr algn="ctr"/>
            <a:r>
              <a:rPr lang="es-ES" sz="3200" b="0" cap="none" spc="0" dirty="0">
                <a:ln w="0"/>
                <a:solidFill>
                  <a:schemeClr val="tx1"/>
                </a:solidFill>
                <a:effectLst>
                  <a:outerShdw blurRad="38100" dist="19050" dir="2700000" algn="tl" rotWithShape="0">
                    <a:schemeClr val="dk1">
                      <a:alpha val="40000"/>
                    </a:schemeClr>
                  </a:outerShdw>
                </a:effectLst>
              </a:rPr>
              <a:t>Tarea 2 - </a:t>
            </a:r>
            <a:r>
              <a:rPr lang="es-ES" sz="3200" dirty="0"/>
              <a:t>Estimación de gasto potencial con modelo de dos partes </a:t>
            </a:r>
            <a:endParaRPr lang="es-ES" sz="3200" b="0" cap="none" spc="0" dirty="0">
              <a:ln w="0"/>
              <a:solidFill>
                <a:schemeClr val="tx1"/>
              </a:solidFill>
              <a:effectLst>
                <a:outerShdw blurRad="38100" dist="19050" dir="2700000" algn="tl" rotWithShape="0">
                  <a:schemeClr val="dk1">
                    <a:alpha val="40000"/>
                  </a:schemeClr>
                </a:outerShdw>
              </a:effectLst>
            </a:endParaRPr>
          </a:p>
        </p:txBody>
      </p:sp>
      <p:sp>
        <p:nvSpPr>
          <p:cNvPr id="3" name="CuadroTexto 2">
            <a:extLst>
              <a:ext uri="{FF2B5EF4-FFF2-40B4-BE49-F238E27FC236}">
                <a16:creationId xmlns:a16="http://schemas.microsoft.com/office/drawing/2014/main" id="{81C99D9D-D1FB-2ED4-6D24-07BF6C6B5EE7}"/>
              </a:ext>
            </a:extLst>
          </p:cNvPr>
          <p:cNvSpPr txBox="1"/>
          <p:nvPr/>
        </p:nvSpPr>
        <p:spPr>
          <a:xfrm>
            <a:off x="3429000" y="4381500"/>
            <a:ext cx="5334000" cy="1200329"/>
          </a:xfrm>
          <a:prstGeom prst="rect">
            <a:avLst/>
          </a:prstGeom>
          <a:noFill/>
        </p:spPr>
        <p:txBody>
          <a:bodyPr wrap="square" rtlCol="0">
            <a:spAutoFit/>
          </a:bodyPr>
          <a:lstStyle/>
          <a:p>
            <a:pPr algn="ctr"/>
            <a:r>
              <a:rPr lang="es-CL" dirty="0"/>
              <a:t>Alumno: Nicolás Santibáñez Reyes</a:t>
            </a:r>
          </a:p>
          <a:p>
            <a:pPr algn="ctr"/>
            <a:r>
              <a:rPr lang="es-CL" dirty="0"/>
              <a:t>Asignatura: Geomarketing/IDG</a:t>
            </a:r>
          </a:p>
          <a:p>
            <a:pPr algn="ctr"/>
            <a:r>
              <a:rPr lang="es-CL" dirty="0"/>
              <a:t>Profesor: Matías Escudero Bell</a:t>
            </a:r>
          </a:p>
          <a:p>
            <a:pPr algn="ctr"/>
            <a:r>
              <a:rPr lang="es-CL" dirty="0"/>
              <a:t>Ayudante: Ariela Díaz Santander</a:t>
            </a:r>
          </a:p>
        </p:txBody>
      </p:sp>
    </p:spTree>
    <p:extLst>
      <p:ext uri="{BB962C8B-B14F-4D97-AF65-F5344CB8AC3E}">
        <p14:creationId xmlns:p14="http://schemas.microsoft.com/office/powerpoint/2010/main" val="1647141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20015EF-FE4F-003E-6344-5D9B990BB187}"/>
              </a:ext>
            </a:extLst>
          </p:cNvPr>
          <p:cNvSpPr/>
          <p:nvPr/>
        </p:nvSpPr>
        <p:spPr>
          <a:xfrm>
            <a:off x="2263309" y="149737"/>
            <a:ext cx="5780750" cy="923330"/>
          </a:xfrm>
          <a:prstGeom prst="rect">
            <a:avLst/>
          </a:prstGeom>
          <a:noFill/>
        </p:spPr>
        <p:txBody>
          <a:bodyPr wrap="none" lIns="91440" tIns="45720" rIns="91440" bIns="45720">
            <a:spAutoFit/>
          </a:bodyPr>
          <a:lstStyle/>
          <a:p>
            <a:pPr algn="ctr"/>
            <a:r>
              <a:rPr lang="es-ES" sz="5400" b="0" cap="none" spc="0" dirty="0">
                <a:ln w="0"/>
                <a:solidFill>
                  <a:srgbClr val="009187"/>
                </a:solidFill>
                <a:effectLst>
                  <a:outerShdw blurRad="38100" dist="25400" dir="5400000" algn="ctr" rotWithShape="0">
                    <a:srgbClr val="6E747A">
                      <a:alpha val="43000"/>
                    </a:srgbClr>
                  </a:outerShdw>
                </a:effectLst>
              </a:rPr>
              <a:t>Tabla de contenidos</a:t>
            </a:r>
          </a:p>
        </p:txBody>
      </p:sp>
      <p:graphicFrame>
        <p:nvGraphicFramePr>
          <p:cNvPr id="4" name="CuadroTexto 2">
            <a:extLst>
              <a:ext uri="{FF2B5EF4-FFF2-40B4-BE49-F238E27FC236}">
                <a16:creationId xmlns:a16="http://schemas.microsoft.com/office/drawing/2014/main" id="{65801DE0-AF84-F961-95FC-D591C469AE2A}"/>
              </a:ext>
            </a:extLst>
          </p:cNvPr>
          <p:cNvGraphicFramePr/>
          <p:nvPr>
            <p:extLst>
              <p:ext uri="{D42A27DB-BD31-4B8C-83A1-F6EECF244321}">
                <p14:modId xmlns:p14="http://schemas.microsoft.com/office/powerpoint/2010/main" val="2453452435"/>
              </p:ext>
            </p:extLst>
          </p:nvPr>
        </p:nvGraphicFramePr>
        <p:xfrm>
          <a:off x="2263309" y="1073067"/>
          <a:ext cx="5966291" cy="54088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08039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A7B77C-059E-6473-218E-9914E26C5EFA}"/>
              </a:ext>
            </a:extLst>
          </p:cNvPr>
          <p:cNvSpPr>
            <a:spLocks noGrp="1"/>
          </p:cNvSpPr>
          <p:nvPr>
            <p:ph type="title"/>
          </p:nvPr>
        </p:nvSpPr>
        <p:spPr/>
        <p:txBody>
          <a:bodyPr/>
          <a:lstStyle/>
          <a:p>
            <a:pPr algn="ctr"/>
            <a:r>
              <a:rPr lang="es-CL" dirty="0"/>
              <a:t>Introducción</a:t>
            </a:r>
          </a:p>
        </p:txBody>
      </p:sp>
      <p:sp>
        <p:nvSpPr>
          <p:cNvPr id="3" name="Marcador de contenido 2">
            <a:extLst>
              <a:ext uri="{FF2B5EF4-FFF2-40B4-BE49-F238E27FC236}">
                <a16:creationId xmlns:a16="http://schemas.microsoft.com/office/drawing/2014/main" id="{EF15561A-5BA9-BAA8-91CD-0995ED711063}"/>
              </a:ext>
            </a:extLst>
          </p:cNvPr>
          <p:cNvSpPr>
            <a:spLocks noGrp="1"/>
          </p:cNvSpPr>
          <p:nvPr>
            <p:ph idx="1"/>
          </p:nvPr>
        </p:nvSpPr>
        <p:spPr>
          <a:xfrm>
            <a:off x="577849" y="1389807"/>
            <a:ext cx="11036300" cy="2332891"/>
          </a:xfrm>
        </p:spPr>
        <p:style>
          <a:lnRef idx="3">
            <a:schemeClr val="lt1"/>
          </a:lnRef>
          <a:fillRef idx="1">
            <a:schemeClr val="accent1"/>
          </a:fillRef>
          <a:effectRef idx="1">
            <a:schemeClr val="accent1"/>
          </a:effectRef>
          <a:fontRef idx="minor">
            <a:schemeClr val="lt1"/>
          </a:fontRef>
        </p:style>
        <p:txBody>
          <a:bodyPr>
            <a:normAutofit fontScale="92500" lnSpcReduction="10000"/>
          </a:bodyPr>
          <a:lstStyle/>
          <a:p>
            <a:pPr marL="0" indent="0" algn="ctr">
              <a:buNone/>
            </a:pPr>
            <a:r>
              <a:rPr lang="es-ES" b="1" i="1" u="sng" dirty="0"/>
              <a:t>OBJETIVO GENERAL</a:t>
            </a:r>
          </a:p>
          <a:p>
            <a:pPr marL="0" indent="0" algn="ctr">
              <a:buNone/>
            </a:pPr>
            <a:r>
              <a:rPr lang="es-ES" b="1" i="1" dirty="0">
                <a:latin typeface="Times New Roman" panose="02020603050405020304" pitchFamily="18" charset="0"/>
                <a:cs typeface="Times New Roman" panose="02020603050405020304" pitchFamily="18" charset="0"/>
              </a:rPr>
              <a:t>Preparar e implementar un modelo de dos partes (</a:t>
            </a:r>
            <a:r>
              <a:rPr lang="es-ES" b="1" i="1" dirty="0" err="1">
                <a:latin typeface="Times New Roman" panose="02020603050405020304" pitchFamily="18" charset="0"/>
                <a:cs typeface="Times New Roman" panose="02020603050405020304" pitchFamily="18" charset="0"/>
              </a:rPr>
              <a:t>logit</a:t>
            </a:r>
            <a:r>
              <a:rPr lang="es-ES" b="1" i="1" dirty="0">
                <a:latin typeface="Times New Roman" panose="02020603050405020304" pitchFamily="18" charset="0"/>
                <a:cs typeface="Times New Roman" panose="02020603050405020304" pitchFamily="18" charset="0"/>
              </a:rPr>
              <a:t> + regresión lineal) para estimar el gasto potencial individual en un servicio o producto específico, utilizando los datos de la Encuesta de Presupuestos Familiares (EPF) y CASEN 2022. Esta etapa permitirá generar una variable imputada de gasto lista para ser posteriormente </a:t>
            </a:r>
            <a:r>
              <a:rPr lang="es-ES" b="1" i="1" dirty="0" err="1">
                <a:latin typeface="Times New Roman" panose="02020603050405020304" pitchFamily="18" charset="0"/>
                <a:cs typeface="Times New Roman" panose="02020603050405020304" pitchFamily="18" charset="0"/>
              </a:rPr>
              <a:t>microsimulada</a:t>
            </a:r>
            <a:r>
              <a:rPr lang="es-ES" b="1" i="1" dirty="0">
                <a:latin typeface="Times New Roman" panose="02020603050405020304" pitchFamily="18" charset="0"/>
                <a:cs typeface="Times New Roman" panose="02020603050405020304" pitchFamily="18" charset="0"/>
              </a:rPr>
              <a:t> a nivel de zona censal.</a:t>
            </a:r>
            <a:endParaRPr lang="es-CL" b="1" i="1" dirty="0">
              <a:latin typeface="Times New Roman" panose="02020603050405020304" pitchFamily="18" charset="0"/>
              <a:cs typeface="Times New Roman" panose="02020603050405020304" pitchFamily="18" charset="0"/>
            </a:endParaRPr>
          </a:p>
        </p:txBody>
      </p:sp>
      <p:graphicFrame>
        <p:nvGraphicFramePr>
          <p:cNvPr id="4" name="Diagrama 3">
            <a:extLst>
              <a:ext uri="{FF2B5EF4-FFF2-40B4-BE49-F238E27FC236}">
                <a16:creationId xmlns:a16="http://schemas.microsoft.com/office/drawing/2014/main" id="{30C50346-7ADA-E120-A4C9-04CCBFB7C211}"/>
              </a:ext>
            </a:extLst>
          </p:cNvPr>
          <p:cNvGraphicFramePr/>
          <p:nvPr>
            <p:extLst>
              <p:ext uri="{D42A27DB-BD31-4B8C-83A1-F6EECF244321}">
                <p14:modId xmlns:p14="http://schemas.microsoft.com/office/powerpoint/2010/main" val="1175649749"/>
              </p:ext>
            </p:extLst>
          </p:nvPr>
        </p:nvGraphicFramePr>
        <p:xfrm>
          <a:off x="838200" y="4356100"/>
          <a:ext cx="10775950" cy="17822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ángulo 4">
            <a:extLst>
              <a:ext uri="{FF2B5EF4-FFF2-40B4-BE49-F238E27FC236}">
                <a16:creationId xmlns:a16="http://schemas.microsoft.com/office/drawing/2014/main" id="{D0A63889-0F49-8C8A-4AD7-4EA46D9241E0}"/>
              </a:ext>
            </a:extLst>
          </p:cNvPr>
          <p:cNvSpPr/>
          <p:nvPr/>
        </p:nvSpPr>
        <p:spPr>
          <a:xfrm>
            <a:off x="3499744" y="3759647"/>
            <a:ext cx="5192511" cy="707886"/>
          </a:xfrm>
          <a:prstGeom prst="rect">
            <a:avLst/>
          </a:prstGeom>
          <a:noFill/>
        </p:spPr>
        <p:txBody>
          <a:bodyPr wrap="none" lIns="91440" tIns="45720" rIns="91440" bIns="45720">
            <a:spAutoFit/>
          </a:bodyPr>
          <a:lstStyle/>
          <a:p>
            <a:pPr algn="ctr"/>
            <a:r>
              <a:rPr lang="es-ES" sz="4000" b="1" u="sng" cap="none" spc="0" dirty="0">
                <a:ln w="9525">
                  <a:solidFill>
                    <a:schemeClr val="bg1"/>
                  </a:solidFill>
                  <a:prstDash val="solid"/>
                </a:ln>
                <a:solidFill>
                  <a:schemeClr val="tx1"/>
                </a:solidFill>
              </a:rPr>
              <a:t>Metodología propuesta</a:t>
            </a:r>
          </a:p>
        </p:txBody>
      </p:sp>
    </p:spTree>
    <p:extLst>
      <p:ext uri="{BB962C8B-B14F-4D97-AF65-F5344CB8AC3E}">
        <p14:creationId xmlns:p14="http://schemas.microsoft.com/office/powerpoint/2010/main" val="1725435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B19E659-8708-B615-C357-0116C32CFC07}"/>
              </a:ext>
            </a:extLst>
          </p:cNvPr>
          <p:cNvPicPr>
            <a:picLocks noChangeAspect="1"/>
          </p:cNvPicPr>
          <p:nvPr/>
        </p:nvPicPr>
        <p:blipFill>
          <a:blip r:embed="rId2">
            <a:duotone>
              <a:schemeClr val="bg2">
                <a:shade val="45000"/>
                <a:satMod val="135000"/>
              </a:schemeClr>
              <a:prstClr val="white"/>
            </a:duotone>
          </a:blip>
          <a:srcRect t="853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3D4D216-5BF4-64B3-39D5-FADDF5FD0493}"/>
              </a:ext>
            </a:extLst>
          </p:cNvPr>
          <p:cNvSpPr>
            <a:spLocks noGrp="1"/>
          </p:cNvSpPr>
          <p:nvPr>
            <p:ph type="title"/>
          </p:nvPr>
        </p:nvSpPr>
        <p:spPr>
          <a:xfrm>
            <a:off x="838200" y="365125"/>
            <a:ext cx="10515600" cy="1325563"/>
          </a:xfrm>
        </p:spPr>
        <p:txBody>
          <a:bodyPr>
            <a:normAutofit/>
          </a:bodyPr>
          <a:lstStyle/>
          <a:p>
            <a:r>
              <a:rPr lang="es-CL" dirty="0"/>
              <a:t>Servicio: Gastos en comida fuera de casa</a:t>
            </a:r>
            <a:endParaRPr lang="es-CL"/>
          </a:p>
        </p:txBody>
      </p:sp>
      <p:graphicFrame>
        <p:nvGraphicFramePr>
          <p:cNvPr id="5" name="Marcador de contenido 2">
            <a:extLst>
              <a:ext uri="{FF2B5EF4-FFF2-40B4-BE49-F238E27FC236}">
                <a16:creationId xmlns:a16="http://schemas.microsoft.com/office/drawing/2014/main" id="{87E1F4FB-A438-27E4-250A-B29BA8A33990}"/>
              </a:ext>
            </a:extLst>
          </p:cNvPr>
          <p:cNvGraphicFramePr>
            <a:graphicFrameLocks noGrp="1"/>
          </p:cNvGraphicFramePr>
          <p:nvPr>
            <p:ph idx="1"/>
            <p:extLst>
              <p:ext uri="{D42A27DB-BD31-4B8C-83A1-F6EECF244321}">
                <p14:modId xmlns:p14="http://schemas.microsoft.com/office/powerpoint/2010/main" val="405136051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19552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CBCD81-F0C0-F02D-DCE2-BD673428F17F}"/>
              </a:ext>
            </a:extLst>
          </p:cNvPr>
          <p:cNvSpPr>
            <a:spLocks noGrp="1"/>
          </p:cNvSpPr>
          <p:nvPr>
            <p:ph type="title"/>
          </p:nvPr>
        </p:nvSpPr>
        <p:spPr/>
        <p:txBody>
          <a:bodyPr/>
          <a:lstStyle/>
          <a:p>
            <a:pPr algn="ctr"/>
            <a:r>
              <a:rPr lang="es-CL" dirty="0"/>
              <a:t>¿Por qué se selecciono este servicio?</a:t>
            </a:r>
          </a:p>
        </p:txBody>
      </p:sp>
      <p:sp>
        <p:nvSpPr>
          <p:cNvPr id="3" name="Marcador de contenido 2">
            <a:extLst>
              <a:ext uri="{FF2B5EF4-FFF2-40B4-BE49-F238E27FC236}">
                <a16:creationId xmlns:a16="http://schemas.microsoft.com/office/drawing/2014/main" id="{67C67E4C-A1C0-E749-7082-4FB109C4CAD0}"/>
              </a:ext>
            </a:extLst>
          </p:cNvPr>
          <p:cNvSpPr>
            <a:spLocks noGrp="1"/>
          </p:cNvSpPr>
          <p:nvPr>
            <p:ph idx="1"/>
          </p:nvPr>
        </p:nvSpPr>
        <p:spPr/>
        <p:txBody>
          <a:bodyPr/>
          <a:lstStyle/>
          <a:p>
            <a:r>
              <a:rPr lang="es-CL" dirty="0"/>
              <a:t>Por el enfoque de la asignatura</a:t>
            </a:r>
          </a:p>
          <a:p>
            <a:r>
              <a:rPr lang="es-CL" dirty="0"/>
              <a:t>Alto componente socioeconómico</a:t>
            </a:r>
          </a:p>
          <a:p>
            <a:r>
              <a:rPr lang="es-CL" dirty="0"/>
              <a:t>Es posible localizar estos servicios a nivel territorial</a:t>
            </a:r>
          </a:p>
          <a:p>
            <a:r>
              <a:rPr lang="es-CL" dirty="0"/>
              <a:t>Alta demanda en el mercado en los últimos años -&gt; Pandemia</a:t>
            </a:r>
          </a:p>
        </p:txBody>
      </p:sp>
    </p:spTree>
    <p:extLst>
      <p:ext uri="{BB962C8B-B14F-4D97-AF65-F5344CB8AC3E}">
        <p14:creationId xmlns:p14="http://schemas.microsoft.com/office/powerpoint/2010/main" val="1789907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C88BF2-3398-A723-F92A-1D81695B48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B0165BE-F290-D026-16B6-5117C5304DF2}"/>
              </a:ext>
            </a:extLst>
          </p:cNvPr>
          <p:cNvSpPr>
            <a:spLocks noGrp="1"/>
          </p:cNvSpPr>
          <p:nvPr>
            <p:ph type="title"/>
          </p:nvPr>
        </p:nvSpPr>
        <p:spPr>
          <a:xfrm>
            <a:off x="5375157" y="741391"/>
            <a:ext cx="5933181" cy="1616203"/>
          </a:xfrm>
        </p:spPr>
        <p:txBody>
          <a:bodyPr anchor="b">
            <a:normAutofit/>
          </a:bodyPr>
          <a:lstStyle/>
          <a:p>
            <a:r>
              <a:rPr lang="es-CL" sz="3200"/>
              <a:t>Datos base: EPF + CASEN</a:t>
            </a:r>
          </a:p>
        </p:txBody>
      </p:sp>
      <p:sp>
        <p:nvSpPr>
          <p:cNvPr id="1035" name="Rectangle 1034">
            <a:extLst>
              <a:ext uri="{FF2B5EF4-FFF2-40B4-BE49-F238E27FC236}">
                <a16:creationId xmlns:a16="http://schemas.microsoft.com/office/drawing/2014/main" id="{37EA83DF-35A8-9CC8-3C8E-C3F32BECC9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86300" cy="6858000"/>
          </a:xfrm>
          <a:prstGeom prst="rect">
            <a:avLst/>
          </a:prstGeom>
          <a:solidFill>
            <a:schemeClr val="bg1">
              <a:lumMod val="95000"/>
              <a:alpha val="8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37" name="Group 1036">
            <a:extLst>
              <a:ext uri="{FF2B5EF4-FFF2-40B4-BE49-F238E27FC236}">
                <a16:creationId xmlns:a16="http://schemas.microsoft.com/office/drawing/2014/main" id="{76A29D64-B4CD-CEFF-8174-BCDB2EA45C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3362" cy="6858000"/>
            <a:chOff x="12068638" y="0"/>
            <a:chExt cx="123362" cy="6858000"/>
          </a:xfrm>
        </p:grpSpPr>
        <p:sp>
          <p:nvSpPr>
            <p:cNvPr id="1038" name="Rectangle 1037">
              <a:extLst>
                <a:ext uri="{FF2B5EF4-FFF2-40B4-BE49-F238E27FC236}">
                  <a16:creationId xmlns:a16="http://schemas.microsoft.com/office/drawing/2014/main" id="{95271C26-E797-25E4-4A2D-5AA7A104D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3E4BD6EF-3C9D-3DEF-A540-84C50BAA5D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27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8" name="Picture 4">
            <a:extLst>
              <a:ext uri="{FF2B5EF4-FFF2-40B4-BE49-F238E27FC236}">
                <a16:creationId xmlns:a16="http://schemas.microsoft.com/office/drawing/2014/main" id="{EFAA29D5-49E2-81D2-ADBC-BE8873CC6F2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83661" y="1844844"/>
            <a:ext cx="2967508" cy="589961"/>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D371B54B-8540-04B8-11E8-E561CA7673E4}"/>
              </a:ext>
            </a:extLst>
          </p:cNvPr>
          <p:cNvPicPr>
            <a:picLocks noChangeAspect="1"/>
          </p:cNvPicPr>
          <p:nvPr/>
        </p:nvPicPr>
        <p:blipFill>
          <a:blip r:embed="rId3"/>
          <a:stretch>
            <a:fillRect/>
          </a:stretch>
        </p:blipFill>
        <p:spPr>
          <a:xfrm>
            <a:off x="883662" y="2793024"/>
            <a:ext cx="2967508" cy="1261190"/>
          </a:xfrm>
          <a:prstGeom prst="rect">
            <a:avLst/>
          </a:prstGeom>
        </p:spPr>
      </p:pic>
      <p:pic>
        <p:nvPicPr>
          <p:cNvPr id="1030" name="Picture 6" descr="INE suma nueva adaptación oficial a su familia de clasificaciones  estadísticas">
            <a:extLst>
              <a:ext uri="{FF2B5EF4-FFF2-40B4-BE49-F238E27FC236}">
                <a16:creationId xmlns:a16="http://schemas.microsoft.com/office/drawing/2014/main" id="{31527691-D0EC-5F19-9372-E33A24296C83}"/>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173749" y="4421446"/>
            <a:ext cx="2387331" cy="1593544"/>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AA043459-303E-66F9-162F-B2C33EBF4310}"/>
              </a:ext>
            </a:extLst>
          </p:cNvPr>
          <p:cNvSpPr>
            <a:spLocks noGrp="1"/>
          </p:cNvSpPr>
          <p:nvPr>
            <p:ph idx="1"/>
          </p:nvPr>
        </p:nvSpPr>
        <p:spPr>
          <a:xfrm>
            <a:off x="5375156" y="2533476"/>
            <a:ext cx="5933182" cy="3447832"/>
          </a:xfrm>
        </p:spPr>
        <p:txBody>
          <a:bodyPr anchor="t">
            <a:normAutofit/>
          </a:bodyPr>
          <a:lstStyle/>
          <a:p>
            <a:r>
              <a:rPr lang="es-CL" sz="2000" dirty="0"/>
              <a:t>EPF IX: corresponde a la 11va Encuesta de Presupuestos Familiares, base de datos a través de la cual se realizaran las estimaciones de los gastos del servicio seleccionado</a:t>
            </a:r>
          </a:p>
          <a:p>
            <a:r>
              <a:rPr lang="es-CL" sz="2000" dirty="0"/>
              <a:t>CASEN: contiene la información socioeconómica a través de la cual se realizará la imputación de los gastos para su estimación</a:t>
            </a:r>
          </a:p>
          <a:p>
            <a:r>
              <a:rPr lang="es-CL" sz="2000" dirty="0"/>
              <a:t>CCIF: base de datos con la codificación de los servicios que se seleccionarán.</a:t>
            </a:r>
          </a:p>
        </p:txBody>
      </p:sp>
    </p:spTree>
    <p:extLst>
      <p:ext uri="{BB962C8B-B14F-4D97-AF65-F5344CB8AC3E}">
        <p14:creationId xmlns:p14="http://schemas.microsoft.com/office/powerpoint/2010/main" val="536247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30ED0-2DD9-49CC-69C4-500DBFEB68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DBC5224-8FC3-F2A2-1408-C153820F2B16}"/>
              </a:ext>
            </a:extLst>
          </p:cNvPr>
          <p:cNvSpPr>
            <a:spLocks noGrp="1"/>
          </p:cNvSpPr>
          <p:nvPr>
            <p:ph type="title"/>
          </p:nvPr>
        </p:nvSpPr>
        <p:spPr/>
        <p:txBody>
          <a:bodyPr/>
          <a:lstStyle/>
          <a:p>
            <a:pPr algn="ctr"/>
            <a:r>
              <a:rPr lang="es-CL" dirty="0"/>
              <a:t>Construcción de la variable</a:t>
            </a:r>
          </a:p>
        </p:txBody>
      </p:sp>
      <p:sp>
        <p:nvSpPr>
          <p:cNvPr id="3" name="Marcador de contenido 2">
            <a:extLst>
              <a:ext uri="{FF2B5EF4-FFF2-40B4-BE49-F238E27FC236}">
                <a16:creationId xmlns:a16="http://schemas.microsoft.com/office/drawing/2014/main" id="{A423D556-63DD-0597-DD72-5AEB09C356BB}"/>
              </a:ext>
            </a:extLst>
          </p:cNvPr>
          <p:cNvSpPr>
            <a:spLocks noGrp="1"/>
          </p:cNvSpPr>
          <p:nvPr>
            <p:ph idx="1"/>
          </p:nvPr>
        </p:nvSpPr>
        <p:spPr/>
        <p:txBody>
          <a:bodyPr/>
          <a:lstStyle/>
          <a:p>
            <a:pPr marL="0" indent="0">
              <a:buNone/>
            </a:pPr>
            <a:r>
              <a:rPr lang="es-CL" dirty="0"/>
              <a:t>Para la construcción de la variable seleccionada fue necesario establecer primero a partir de que otras variables es posible </a:t>
            </a:r>
            <a:r>
              <a:rPr lang="es-CL" dirty="0" err="1"/>
              <a:t>contruirla</a:t>
            </a:r>
            <a:r>
              <a:rPr lang="es-CL" dirty="0"/>
              <a:t>.</a:t>
            </a:r>
          </a:p>
          <a:p>
            <a:pPr marL="0" indent="0">
              <a:buNone/>
            </a:pPr>
            <a:endParaRPr lang="es-CL" dirty="0"/>
          </a:p>
          <a:p>
            <a:pPr marL="0" indent="0">
              <a:buNone/>
            </a:pPr>
            <a:r>
              <a:rPr lang="es-CL" dirty="0"/>
              <a:t>Por ello fue necesario hacer una revisión de los códigos de la base CCIF.</a:t>
            </a:r>
          </a:p>
          <a:p>
            <a:pPr marL="0" lvl="0" indent="0" eaLnBrk="0" fontAlgn="base" hangingPunct="0">
              <a:lnSpc>
                <a:spcPct val="100000"/>
              </a:lnSpc>
              <a:spcBef>
                <a:spcPct val="0"/>
              </a:spcBef>
              <a:spcAft>
                <a:spcPct val="0"/>
              </a:spcAft>
              <a:buNone/>
            </a:pPr>
            <a:endParaRPr lang="es-CL" dirty="0"/>
          </a:p>
          <a:p>
            <a:pPr marL="0" lvl="0" indent="0" eaLnBrk="0" fontAlgn="base" hangingPunct="0">
              <a:lnSpc>
                <a:spcPct val="100000"/>
              </a:lnSpc>
              <a:spcBef>
                <a:spcPct val="0"/>
              </a:spcBef>
              <a:spcAft>
                <a:spcPct val="0"/>
              </a:spcAft>
              <a:buNone/>
            </a:pPr>
            <a:r>
              <a:rPr lang="es-CL" dirty="0"/>
              <a:t>Al revisarla se observó que los códigos “</a:t>
            </a:r>
            <a:r>
              <a:rPr lang="es-CL" altLang="es-CL" dirty="0"/>
              <a:t>11.1.1.01.xx” y “11.1.1.02.xx” correspondían a gastos de comida fuera del hogar, entre los cuales estaban las categorías de restaurantes, comida rápida, ambulantes, etc.</a:t>
            </a:r>
          </a:p>
          <a:p>
            <a:pPr marL="0" indent="0">
              <a:buNone/>
            </a:pPr>
            <a:endParaRPr lang="es-CL" dirty="0"/>
          </a:p>
        </p:txBody>
      </p:sp>
      <p:sp>
        <p:nvSpPr>
          <p:cNvPr id="4" name="CuadroTexto 3">
            <a:extLst>
              <a:ext uri="{FF2B5EF4-FFF2-40B4-BE49-F238E27FC236}">
                <a16:creationId xmlns:a16="http://schemas.microsoft.com/office/drawing/2014/main" id="{70BF7444-F82D-12E5-1437-8D6B803A5AD6}"/>
              </a:ext>
            </a:extLst>
          </p:cNvPr>
          <p:cNvSpPr txBox="1"/>
          <p:nvPr/>
        </p:nvSpPr>
        <p:spPr>
          <a:xfrm>
            <a:off x="177800" y="5792609"/>
            <a:ext cx="11836400" cy="738664"/>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s-ES" sz="1400" i="1" dirty="0"/>
              <a:t>Se excluyeron las categorías 11.1.2.xx.xx correspondientes a comedores y casinos de alimentación institucionales, ya que estos servicios no representan decisiones de consumo libre en el mercado, sino sistemas de provisión asociados a establecimientos educacionales o laborales, lo que no es coherente con el objetivo de estimar gasto potencial para análisis de geomarketing.</a:t>
            </a:r>
            <a:endParaRPr lang="es-CL" sz="1400" i="1" dirty="0"/>
          </a:p>
        </p:txBody>
      </p:sp>
    </p:spTree>
    <p:extLst>
      <p:ext uri="{BB962C8B-B14F-4D97-AF65-F5344CB8AC3E}">
        <p14:creationId xmlns:p14="http://schemas.microsoft.com/office/powerpoint/2010/main" val="2165841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o 8">
            <a:extLst>
              <a:ext uri="{FF2B5EF4-FFF2-40B4-BE49-F238E27FC236}">
                <a16:creationId xmlns:a16="http://schemas.microsoft.com/office/drawing/2014/main" id="{D95CD04E-563B-35D6-31D4-BB165DA07C7D}"/>
              </a:ext>
            </a:extLst>
          </p:cNvPr>
          <p:cNvGraphicFramePr>
            <a:graphicFrameLocks noChangeAspect="1"/>
          </p:cNvGraphicFramePr>
          <p:nvPr>
            <p:extLst>
              <p:ext uri="{D42A27DB-BD31-4B8C-83A1-F6EECF244321}">
                <p14:modId xmlns:p14="http://schemas.microsoft.com/office/powerpoint/2010/main" val="1014048949"/>
              </p:ext>
            </p:extLst>
          </p:nvPr>
        </p:nvGraphicFramePr>
        <p:xfrm>
          <a:off x="241300" y="1379538"/>
          <a:ext cx="5854700" cy="4425950"/>
        </p:xfrm>
        <a:graphic>
          <a:graphicData uri="http://schemas.openxmlformats.org/presentationml/2006/ole">
            <mc:AlternateContent xmlns:mc="http://schemas.openxmlformats.org/markup-compatibility/2006">
              <mc:Choice xmlns:v="urn:schemas-microsoft-com:vml" Requires="v">
                <p:oleObj name="Worksheet" r:id="rId2" imgW="5994400" imgH="4426075" progId="Excel.Sheet.12">
                  <p:embed/>
                </p:oleObj>
              </mc:Choice>
              <mc:Fallback>
                <p:oleObj name="Worksheet" r:id="rId2" imgW="5994400" imgH="4426075" progId="Excel.Sheet.12">
                  <p:embed/>
                  <p:pic>
                    <p:nvPicPr>
                      <p:cNvPr id="0" name=""/>
                      <p:cNvPicPr/>
                      <p:nvPr/>
                    </p:nvPicPr>
                    <p:blipFill>
                      <a:blip r:embed="rId3"/>
                      <a:stretch>
                        <a:fillRect/>
                      </a:stretch>
                    </p:blipFill>
                    <p:spPr>
                      <a:xfrm>
                        <a:off x="241300" y="1379538"/>
                        <a:ext cx="5854700" cy="4425950"/>
                      </a:xfrm>
                      <a:prstGeom prst="rect">
                        <a:avLst/>
                      </a:prstGeom>
                    </p:spPr>
                  </p:pic>
                </p:oleObj>
              </mc:Fallback>
            </mc:AlternateContent>
          </a:graphicData>
        </a:graphic>
      </p:graphicFrame>
      <p:graphicFrame>
        <p:nvGraphicFramePr>
          <p:cNvPr id="11" name="Objeto 10">
            <a:extLst>
              <a:ext uri="{FF2B5EF4-FFF2-40B4-BE49-F238E27FC236}">
                <a16:creationId xmlns:a16="http://schemas.microsoft.com/office/drawing/2014/main" id="{2215D251-AD63-7557-0BCE-04A8135974C5}"/>
              </a:ext>
            </a:extLst>
          </p:cNvPr>
          <p:cNvGraphicFramePr>
            <a:graphicFrameLocks noChangeAspect="1"/>
          </p:cNvGraphicFramePr>
          <p:nvPr>
            <p:extLst>
              <p:ext uri="{D42A27DB-BD31-4B8C-83A1-F6EECF244321}">
                <p14:modId xmlns:p14="http://schemas.microsoft.com/office/powerpoint/2010/main" val="3370788449"/>
              </p:ext>
            </p:extLst>
          </p:nvPr>
        </p:nvGraphicFramePr>
        <p:xfrm>
          <a:off x="6197600" y="1379538"/>
          <a:ext cx="5753100" cy="4425950"/>
        </p:xfrm>
        <a:graphic>
          <a:graphicData uri="http://schemas.openxmlformats.org/presentationml/2006/ole">
            <mc:AlternateContent xmlns:mc="http://schemas.openxmlformats.org/markup-compatibility/2006">
              <mc:Choice xmlns:v="urn:schemas-microsoft-com:vml" Requires="v">
                <p:oleObj name="Worksheet" r:id="rId4" imgW="6731118" imgH="4241774" progId="Excel.Sheet.12">
                  <p:embed/>
                </p:oleObj>
              </mc:Choice>
              <mc:Fallback>
                <p:oleObj name="Worksheet" r:id="rId4" imgW="6731118" imgH="4241774" progId="Excel.Sheet.12">
                  <p:embed/>
                  <p:pic>
                    <p:nvPicPr>
                      <p:cNvPr id="0" name=""/>
                      <p:cNvPicPr/>
                      <p:nvPr/>
                    </p:nvPicPr>
                    <p:blipFill>
                      <a:blip r:embed="rId5"/>
                      <a:stretch>
                        <a:fillRect/>
                      </a:stretch>
                    </p:blipFill>
                    <p:spPr>
                      <a:xfrm>
                        <a:off x="6197600" y="1379538"/>
                        <a:ext cx="5753100" cy="4425950"/>
                      </a:xfrm>
                      <a:prstGeom prst="rect">
                        <a:avLst/>
                      </a:prstGeom>
                    </p:spPr>
                  </p:pic>
                </p:oleObj>
              </mc:Fallback>
            </mc:AlternateContent>
          </a:graphicData>
        </a:graphic>
      </p:graphicFrame>
      <p:sp>
        <p:nvSpPr>
          <p:cNvPr id="12" name="Título 1">
            <a:extLst>
              <a:ext uri="{FF2B5EF4-FFF2-40B4-BE49-F238E27FC236}">
                <a16:creationId xmlns:a16="http://schemas.microsoft.com/office/drawing/2014/main" id="{2F9027BF-C07A-D198-9743-3E93769F69A7}"/>
              </a:ext>
            </a:extLst>
          </p:cNvPr>
          <p:cNvSpPr>
            <a:spLocks noGrp="1"/>
          </p:cNvSpPr>
          <p:nvPr>
            <p:ph type="title"/>
          </p:nvPr>
        </p:nvSpPr>
        <p:spPr>
          <a:xfrm>
            <a:off x="838200" y="365125"/>
            <a:ext cx="10515600" cy="1325563"/>
          </a:xfrm>
        </p:spPr>
        <p:txBody>
          <a:bodyPr/>
          <a:lstStyle/>
          <a:p>
            <a:pPr algn="ctr"/>
            <a:r>
              <a:rPr lang="es-CL" dirty="0"/>
              <a:t>Códigos CCIF utilizados</a:t>
            </a:r>
          </a:p>
        </p:txBody>
      </p:sp>
    </p:spTree>
    <p:extLst>
      <p:ext uri="{BB962C8B-B14F-4D97-AF65-F5344CB8AC3E}">
        <p14:creationId xmlns:p14="http://schemas.microsoft.com/office/powerpoint/2010/main" val="1512946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EAD9AD-18AE-4BAD-01FA-AE5C1ED6965B}"/>
              </a:ext>
            </a:extLst>
          </p:cNvPr>
          <p:cNvSpPr>
            <a:spLocks noGrp="1"/>
          </p:cNvSpPr>
          <p:nvPr>
            <p:ph type="title"/>
          </p:nvPr>
        </p:nvSpPr>
        <p:spPr/>
        <p:txBody>
          <a:bodyPr/>
          <a:lstStyle/>
          <a:p>
            <a:pPr algn="ctr"/>
            <a:r>
              <a:rPr lang="es-CL" dirty="0"/>
              <a:t>Construcción de la variable</a:t>
            </a:r>
          </a:p>
        </p:txBody>
      </p:sp>
      <p:graphicFrame>
        <p:nvGraphicFramePr>
          <p:cNvPr id="4" name="Marcador de contenido 3">
            <a:extLst>
              <a:ext uri="{FF2B5EF4-FFF2-40B4-BE49-F238E27FC236}">
                <a16:creationId xmlns:a16="http://schemas.microsoft.com/office/drawing/2014/main" id="{3E97FED0-283E-42DE-7FB8-C2D6F58DC23C}"/>
              </a:ext>
            </a:extLst>
          </p:cNvPr>
          <p:cNvGraphicFramePr>
            <a:graphicFrameLocks noGrp="1"/>
          </p:cNvGraphicFramePr>
          <p:nvPr>
            <p:ph idx="1"/>
            <p:extLst>
              <p:ext uri="{D42A27DB-BD31-4B8C-83A1-F6EECF244321}">
                <p14:modId xmlns:p14="http://schemas.microsoft.com/office/powerpoint/2010/main" val="311955279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1337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BAAC1-CEE1-9FC2-90D2-6023D61A0A0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30ABB6B-F6C7-8E03-3187-A17665E459FE}"/>
              </a:ext>
            </a:extLst>
          </p:cNvPr>
          <p:cNvSpPr>
            <a:spLocks noGrp="1"/>
          </p:cNvSpPr>
          <p:nvPr>
            <p:ph type="title"/>
          </p:nvPr>
        </p:nvSpPr>
        <p:spPr/>
        <p:txBody>
          <a:bodyPr/>
          <a:lstStyle/>
          <a:p>
            <a:pPr algn="ctr"/>
            <a:r>
              <a:rPr lang="es-CL" dirty="0"/>
              <a:t>¿Por qué se usa un modelo de dos partes?</a:t>
            </a:r>
          </a:p>
        </p:txBody>
      </p:sp>
      <p:pic>
        <p:nvPicPr>
          <p:cNvPr id="5" name="Imagen 4">
            <a:extLst>
              <a:ext uri="{FF2B5EF4-FFF2-40B4-BE49-F238E27FC236}">
                <a16:creationId xmlns:a16="http://schemas.microsoft.com/office/drawing/2014/main" id="{8CC8D19C-8DA9-F38F-D5BA-AB518DE866F0}"/>
              </a:ext>
            </a:extLst>
          </p:cNvPr>
          <p:cNvPicPr>
            <a:picLocks noChangeAspect="1"/>
          </p:cNvPicPr>
          <p:nvPr/>
        </p:nvPicPr>
        <p:blipFill>
          <a:blip r:embed="rId2"/>
          <a:stretch>
            <a:fillRect/>
          </a:stretch>
        </p:blipFill>
        <p:spPr>
          <a:xfrm>
            <a:off x="7555715" y="3300942"/>
            <a:ext cx="4073251" cy="2913592"/>
          </a:xfrm>
          <a:prstGeom prst="rect">
            <a:avLst/>
          </a:prstGeom>
        </p:spPr>
      </p:pic>
      <p:sp>
        <p:nvSpPr>
          <p:cNvPr id="6" name="Rectangle 3">
            <a:extLst>
              <a:ext uri="{FF2B5EF4-FFF2-40B4-BE49-F238E27FC236}">
                <a16:creationId xmlns:a16="http://schemas.microsoft.com/office/drawing/2014/main" id="{99A0B5C3-6529-DCEA-EA6C-DA155B3F2BED}"/>
              </a:ext>
            </a:extLst>
          </p:cNvPr>
          <p:cNvSpPr>
            <a:spLocks noGrp="1" noChangeArrowheads="1"/>
          </p:cNvSpPr>
          <p:nvPr>
            <p:ph idx="1"/>
          </p:nvPr>
        </p:nvSpPr>
        <p:spPr bwMode="auto">
          <a:xfrm>
            <a:off x="563033" y="1905506"/>
            <a:ext cx="1106593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s-CL" altLang="es-CL" sz="2400" dirty="0"/>
              <a:t>Para representar de mejor manera la variable seleccionada se utilizó un modelo de dos partes, tal como sugería la pauta de esta tarea, este modelo de dos partes logra captar de mejor manera la dimensión de esta </a:t>
            </a:r>
            <a:r>
              <a:rPr lang="es-CL" altLang="es-CL" sz="2400" dirty="0" err="1"/>
              <a:t>variabe</a:t>
            </a:r>
            <a:r>
              <a:rPr lang="es-CL" altLang="es-CL" sz="2400" dirty="0"/>
              <a:t>. Además podemos determinar el uso de un modelo de dos partes como en este caso si:</a:t>
            </a:r>
          </a:p>
          <a:p>
            <a:pPr marL="0" marR="0" lvl="0" indent="0" algn="l" defTabSz="914400" rtl="0" eaLnBrk="0" fontAlgn="base" latinLnBrk="0" hangingPunct="0">
              <a:lnSpc>
                <a:spcPct val="100000"/>
              </a:lnSpc>
              <a:spcBef>
                <a:spcPct val="0"/>
              </a:spcBef>
              <a:spcAft>
                <a:spcPct val="0"/>
              </a:spcAft>
              <a:buClrTx/>
              <a:buSzTx/>
              <a:buNone/>
              <a:tabLst/>
            </a:pPr>
            <a:endParaRPr kumimoji="0" lang="es-CL" altLang="es-CL"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L" altLang="es-CL" sz="2400" b="0" i="0" u="none" strike="noStrike" cap="none" normalizeH="0" baseline="0" dirty="0">
                <a:ln>
                  <a:noFill/>
                </a:ln>
                <a:solidFill>
                  <a:schemeClr val="tx1"/>
                </a:solidFill>
                <a:effectLst/>
              </a:rPr>
              <a:t>Alta proporción de ceros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L" altLang="es-CL" sz="2400" b="0" i="0" u="none" strike="noStrike" cap="none" normalizeH="0" baseline="0" dirty="0">
                <a:ln>
                  <a:noFill/>
                </a:ln>
                <a:solidFill>
                  <a:schemeClr val="tx1"/>
                </a:solidFill>
                <a:effectLst/>
              </a:rPr>
              <a:t>Alta dispersión del gasto positivo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L" altLang="es-CL" sz="2400" b="0" i="0" u="none" strike="noStrike" cap="none" normalizeH="0" baseline="0" dirty="0">
                <a:ln>
                  <a:noFill/>
                </a:ln>
                <a:solidFill>
                  <a:schemeClr val="tx1"/>
                </a:solidFill>
                <a:effectLst/>
              </a:rPr>
              <a:t>Un solo modelo no captura bien ambas cosas</a:t>
            </a:r>
          </a:p>
        </p:txBody>
      </p:sp>
    </p:spTree>
    <p:extLst>
      <p:ext uri="{BB962C8B-B14F-4D97-AF65-F5344CB8AC3E}">
        <p14:creationId xmlns:p14="http://schemas.microsoft.com/office/powerpoint/2010/main" val="76108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D3A593-881E-B3BD-ECEB-83613AE7B059}"/>
              </a:ext>
            </a:extLst>
          </p:cNvPr>
          <p:cNvSpPr>
            <a:spLocks noGrp="1"/>
          </p:cNvSpPr>
          <p:nvPr>
            <p:ph type="title"/>
          </p:nvPr>
        </p:nvSpPr>
        <p:spPr/>
        <p:txBody>
          <a:bodyPr/>
          <a:lstStyle/>
          <a:p>
            <a:pPr algn="ctr"/>
            <a:r>
              <a:rPr lang="es-CL" dirty="0"/>
              <a:t>Estadísticas de variable construida</a:t>
            </a:r>
          </a:p>
        </p:txBody>
      </p:sp>
      <p:sp>
        <p:nvSpPr>
          <p:cNvPr id="3" name="Marcador de contenido 2">
            <a:extLst>
              <a:ext uri="{FF2B5EF4-FFF2-40B4-BE49-F238E27FC236}">
                <a16:creationId xmlns:a16="http://schemas.microsoft.com/office/drawing/2014/main" id="{7F282283-3AFC-4D66-8B72-AA031E55600B}"/>
              </a:ext>
            </a:extLst>
          </p:cNvPr>
          <p:cNvSpPr>
            <a:spLocks noGrp="1"/>
          </p:cNvSpPr>
          <p:nvPr>
            <p:ph idx="1"/>
          </p:nvPr>
        </p:nvSpPr>
        <p:spPr>
          <a:xfrm>
            <a:off x="838200" y="5934659"/>
            <a:ext cx="10515600" cy="558216"/>
          </a:xfrm>
        </p:spPr>
        <p:txBody>
          <a:bodyPr>
            <a:normAutofit fontScale="70000" lnSpcReduction="20000"/>
          </a:bodyPr>
          <a:lstStyle/>
          <a:p>
            <a:pPr marL="0" indent="0" algn="ctr">
              <a:buNone/>
            </a:pPr>
            <a:r>
              <a:rPr lang="es-ES" i="1" dirty="0">
                <a:latin typeface="Times New Roman" panose="02020603050405020304" pitchFamily="18" charset="0"/>
                <a:cs typeface="Times New Roman" panose="02020603050405020304" pitchFamily="18" charset="0"/>
              </a:rPr>
              <a:t>La combinación de una alta proporción de ceros y una distribución fuertemente asimétrica del gasto positivo hace inadecuado el uso de un único modelo lineal</a:t>
            </a:r>
            <a:endParaRPr lang="es-CL" i="1" dirty="0">
              <a:latin typeface="Times New Roman" panose="02020603050405020304" pitchFamily="18" charset="0"/>
              <a:cs typeface="Times New Roman" panose="02020603050405020304" pitchFamily="18" charset="0"/>
            </a:endParaRPr>
          </a:p>
        </p:txBody>
      </p:sp>
      <p:pic>
        <p:nvPicPr>
          <p:cNvPr id="5" name="Imagen 4">
            <a:extLst>
              <a:ext uri="{FF2B5EF4-FFF2-40B4-BE49-F238E27FC236}">
                <a16:creationId xmlns:a16="http://schemas.microsoft.com/office/drawing/2014/main" id="{37DDA46C-A18B-CA76-A530-A229A6ACABD8}"/>
              </a:ext>
            </a:extLst>
          </p:cNvPr>
          <p:cNvPicPr>
            <a:picLocks noChangeAspect="1"/>
          </p:cNvPicPr>
          <p:nvPr/>
        </p:nvPicPr>
        <p:blipFill>
          <a:blip r:embed="rId2"/>
          <a:stretch>
            <a:fillRect/>
          </a:stretch>
        </p:blipFill>
        <p:spPr>
          <a:xfrm>
            <a:off x="489285" y="1443204"/>
            <a:ext cx="5067521" cy="4351338"/>
          </a:xfrm>
          <a:prstGeom prst="rect">
            <a:avLst/>
          </a:prstGeom>
        </p:spPr>
      </p:pic>
      <p:pic>
        <p:nvPicPr>
          <p:cNvPr id="8" name="Imagen 7">
            <a:extLst>
              <a:ext uri="{FF2B5EF4-FFF2-40B4-BE49-F238E27FC236}">
                <a16:creationId xmlns:a16="http://schemas.microsoft.com/office/drawing/2014/main" id="{E848FF34-5D24-34D4-0076-8241C88AEDA1}"/>
              </a:ext>
            </a:extLst>
          </p:cNvPr>
          <p:cNvPicPr>
            <a:picLocks noChangeAspect="1"/>
          </p:cNvPicPr>
          <p:nvPr/>
        </p:nvPicPr>
        <p:blipFill>
          <a:blip r:embed="rId3"/>
          <a:stretch>
            <a:fillRect/>
          </a:stretch>
        </p:blipFill>
        <p:spPr>
          <a:xfrm>
            <a:off x="6832599" y="1988492"/>
            <a:ext cx="4021667" cy="3068255"/>
          </a:xfrm>
          <a:prstGeom prst="rect">
            <a:avLst/>
          </a:prstGeom>
        </p:spPr>
      </p:pic>
    </p:spTree>
    <p:extLst>
      <p:ext uri="{BB962C8B-B14F-4D97-AF65-F5344CB8AC3E}">
        <p14:creationId xmlns:p14="http://schemas.microsoft.com/office/powerpoint/2010/main" val="1650325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7E8D03-6E80-AD95-EF2B-13B217BF28EC}"/>
            </a:ext>
          </a:extLst>
        </p:cNvPr>
        <p:cNvGrpSpPr/>
        <p:nvPr/>
      </p:nvGrpSpPr>
      <p:grpSpPr>
        <a:xfrm>
          <a:off x="0" y="0"/>
          <a:ext cx="0" cy="0"/>
          <a:chOff x="0" y="0"/>
          <a:chExt cx="0" cy="0"/>
        </a:xfrm>
      </p:grpSpPr>
      <p:sp>
        <p:nvSpPr>
          <p:cNvPr id="6153" name="Rectangle 615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3D1D5BC-3A3F-03DB-30A6-73312DADB233}"/>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Esquema de modelo de 2 partes</a:t>
            </a:r>
          </a:p>
        </p:txBody>
      </p:sp>
      <p:pic>
        <p:nvPicPr>
          <p:cNvPr id="6148" name="Picture 4">
            <a:extLst>
              <a:ext uri="{FF2B5EF4-FFF2-40B4-BE49-F238E27FC236}">
                <a16:creationId xmlns:a16="http://schemas.microsoft.com/office/drawing/2014/main" id="{062B94EB-8506-8241-C8C0-AF1187523E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0266" y="1648614"/>
            <a:ext cx="10111468" cy="5055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45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304508-BE9E-8AC1-319E-EBBEDF778DD4}"/>
              </a:ext>
            </a:extLst>
          </p:cNvPr>
          <p:cNvSpPr>
            <a:spLocks noGrp="1"/>
          </p:cNvSpPr>
          <p:nvPr>
            <p:ph type="title"/>
          </p:nvPr>
        </p:nvSpPr>
        <p:spPr/>
        <p:txBody>
          <a:bodyPr/>
          <a:lstStyle/>
          <a:p>
            <a:endParaRPr lang="es-CL"/>
          </a:p>
        </p:txBody>
      </p:sp>
      <p:sp>
        <p:nvSpPr>
          <p:cNvPr id="3" name="Marcador de contenido 2">
            <a:extLst>
              <a:ext uri="{FF2B5EF4-FFF2-40B4-BE49-F238E27FC236}">
                <a16:creationId xmlns:a16="http://schemas.microsoft.com/office/drawing/2014/main" id="{E64D10E5-D325-6AE1-BDF2-5A3A12579E8D}"/>
              </a:ext>
            </a:extLst>
          </p:cNvPr>
          <p:cNvSpPr>
            <a:spLocks noGrp="1"/>
          </p:cNvSpPr>
          <p:nvPr>
            <p:ph idx="1"/>
          </p:nvPr>
        </p:nvSpPr>
        <p:spPr/>
        <p:txBody>
          <a:bodyPr/>
          <a:lstStyle/>
          <a:p>
            <a:endParaRPr lang="es-CL"/>
          </a:p>
        </p:txBody>
      </p:sp>
      <p:pic>
        <p:nvPicPr>
          <p:cNvPr id="5" name="Imagen 4">
            <a:extLst>
              <a:ext uri="{FF2B5EF4-FFF2-40B4-BE49-F238E27FC236}">
                <a16:creationId xmlns:a16="http://schemas.microsoft.com/office/drawing/2014/main" id="{50FBE4CC-9E4C-1DB0-7423-8879EB02D75A}"/>
              </a:ext>
            </a:extLst>
          </p:cNvPr>
          <p:cNvPicPr>
            <a:picLocks noChangeAspect="1"/>
          </p:cNvPicPr>
          <p:nvPr/>
        </p:nvPicPr>
        <p:blipFill>
          <a:blip r:embed="rId2"/>
          <a:stretch>
            <a:fillRect/>
          </a:stretch>
        </p:blipFill>
        <p:spPr>
          <a:xfrm>
            <a:off x="1687285" y="0"/>
            <a:ext cx="8817429" cy="6858000"/>
          </a:xfrm>
          <a:prstGeom prst="rect">
            <a:avLst/>
          </a:prstGeom>
        </p:spPr>
      </p:pic>
    </p:spTree>
    <p:extLst>
      <p:ext uri="{BB962C8B-B14F-4D97-AF65-F5344CB8AC3E}">
        <p14:creationId xmlns:p14="http://schemas.microsoft.com/office/powerpoint/2010/main" val="510967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5AA7B-0540-C195-9EFA-A8EC502B949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11DC92-83F8-1074-5345-7E53530A94F5}"/>
              </a:ext>
            </a:extLst>
          </p:cNvPr>
          <p:cNvSpPr>
            <a:spLocks noGrp="1"/>
          </p:cNvSpPr>
          <p:nvPr>
            <p:ph type="title"/>
          </p:nvPr>
        </p:nvSpPr>
        <p:spPr>
          <a:xfrm>
            <a:off x="2125134" y="208923"/>
            <a:ext cx="5257800" cy="1325563"/>
          </a:xfrm>
        </p:spPr>
        <p:txBody>
          <a:bodyPr/>
          <a:lstStyle/>
          <a:p>
            <a:pPr algn="ctr"/>
            <a:r>
              <a:rPr lang="es-CL" dirty="0"/>
              <a:t>Modelo LOGIT</a:t>
            </a:r>
          </a:p>
        </p:txBody>
      </p:sp>
      <p:sp>
        <p:nvSpPr>
          <p:cNvPr id="3" name="Marcador de contenido 2">
            <a:extLst>
              <a:ext uri="{FF2B5EF4-FFF2-40B4-BE49-F238E27FC236}">
                <a16:creationId xmlns:a16="http://schemas.microsoft.com/office/drawing/2014/main" id="{41C23270-0A80-AE62-1350-EFAC61D8CACC}"/>
              </a:ext>
            </a:extLst>
          </p:cNvPr>
          <p:cNvSpPr>
            <a:spLocks noGrp="1"/>
          </p:cNvSpPr>
          <p:nvPr>
            <p:ph idx="1"/>
          </p:nvPr>
        </p:nvSpPr>
        <p:spPr>
          <a:xfrm>
            <a:off x="838200" y="1825625"/>
            <a:ext cx="6544734" cy="4351338"/>
          </a:xfrm>
        </p:spPr>
        <p:txBody>
          <a:bodyPr/>
          <a:lstStyle/>
          <a:p>
            <a:r>
              <a:rPr lang="en-US" dirty="0"/>
              <a:t>Area under the curve(AUC): 0.7439</a:t>
            </a:r>
          </a:p>
          <a:p>
            <a:pPr marL="0" indent="0">
              <a:buNone/>
            </a:pPr>
            <a:endParaRPr lang="en-US" dirty="0"/>
          </a:p>
          <a:p>
            <a:r>
              <a:rPr lang="en-US" dirty="0"/>
              <a:t>El </a:t>
            </a:r>
            <a:r>
              <a:rPr lang="en-US" dirty="0" err="1"/>
              <a:t>modelo</a:t>
            </a:r>
            <a:r>
              <a:rPr lang="en-US" dirty="0"/>
              <a:t> </a:t>
            </a:r>
            <a:r>
              <a:rPr lang="en-US" dirty="0" err="1"/>
              <a:t>presenta</a:t>
            </a:r>
            <a:r>
              <a:rPr lang="en-US" dirty="0"/>
              <a:t> </a:t>
            </a:r>
            <a:r>
              <a:rPr lang="en-US" dirty="0" err="1"/>
              <a:t>buena</a:t>
            </a:r>
            <a:r>
              <a:rPr lang="en-US" dirty="0"/>
              <a:t> </a:t>
            </a:r>
            <a:r>
              <a:rPr lang="en-US" dirty="0" err="1"/>
              <a:t>capacidad</a:t>
            </a:r>
            <a:r>
              <a:rPr lang="en-US" dirty="0"/>
              <a:t> de </a:t>
            </a:r>
            <a:r>
              <a:rPr lang="en-US" dirty="0" err="1"/>
              <a:t>discriminación</a:t>
            </a:r>
            <a:endParaRPr lang="en-US" dirty="0"/>
          </a:p>
          <a:p>
            <a:pPr marL="0" indent="0">
              <a:buNone/>
            </a:pPr>
            <a:endParaRPr lang="en-US" dirty="0"/>
          </a:p>
          <a:p>
            <a:r>
              <a:rPr lang="en-US" dirty="0"/>
              <a:t>Las variables </a:t>
            </a:r>
            <a:r>
              <a:rPr lang="en-US" dirty="0" err="1"/>
              <a:t>socioeconómicas</a:t>
            </a:r>
            <a:r>
              <a:rPr lang="en-US" dirty="0"/>
              <a:t> </a:t>
            </a:r>
            <a:r>
              <a:rPr lang="en-US" dirty="0" err="1"/>
              <a:t>diferencian</a:t>
            </a:r>
            <a:r>
              <a:rPr lang="en-US" dirty="0"/>
              <a:t> </a:t>
            </a:r>
            <a:r>
              <a:rPr lang="en-US" dirty="0" err="1"/>
              <a:t>hogares</a:t>
            </a:r>
            <a:r>
              <a:rPr lang="en-US" dirty="0"/>
              <a:t> </a:t>
            </a:r>
            <a:r>
              <a:rPr lang="en-US" dirty="0" err="1"/>
              <a:t>que</a:t>
            </a:r>
            <a:r>
              <a:rPr lang="en-US" dirty="0"/>
              <a:t> </a:t>
            </a:r>
            <a:r>
              <a:rPr lang="en-US" dirty="0" err="1"/>
              <a:t>gastan</a:t>
            </a:r>
            <a:r>
              <a:rPr lang="en-US" dirty="0"/>
              <a:t> y </a:t>
            </a:r>
            <a:r>
              <a:rPr lang="en-US" dirty="0" err="1"/>
              <a:t>los</a:t>
            </a:r>
            <a:r>
              <a:rPr lang="en-US" dirty="0"/>
              <a:t> </a:t>
            </a:r>
            <a:r>
              <a:rPr lang="en-US" dirty="0" err="1"/>
              <a:t>que</a:t>
            </a:r>
            <a:r>
              <a:rPr lang="en-US" dirty="0"/>
              <a:t> no</a:t>
            </a:r>
          </a:p>
          <a:p>
            <a:endParaRPr lang="en-US" dirty="0"/>
          </a:p>
          <a:p>
            <a:endParaRPr lang="es-CL" dirty="0"/>
          </a:p>
        </p:txBody>
      </p:sp>
      <p:pic>
        <p:nvPicPr>
          <p:cNvPr id="5" name="Imagen 4">
            <a:extLst>
              <a:ext uri="{FF2B5EF4-FFF2-40B4-BE49-F238E27FC236}">
                <a16:creationId xmlns:a16="http://schemas.microsoft.com/office/drawing/2014/main" id="{3452F4BC-3A3F-677B-C545-D1A28C5C3132}"/>
              </a:ext>
            </a:extLst>
          </p:cNvPr>
          <p:cNvPicPr>
            <a:picLocks noChangeAspect="1"/>
          </p:cNvPicPr>
          <p:nvPr/>
        </p:nvPicPr>
        <p:blipFill>
          <a:blip r:embed="rId2"/>
          <a:stretch>
            <a:fillRect/>
          </a:stretch>
        </p:blipFill>
        <p:spPr>
          <a:xfrm>
            <a:off x="7382934" y="141928"/>
            <a:ext cx="4216400" cy="6574143"/>
          </a:xfrm>
          <a:prstGeom prst="rect">
            <a:avLst/>
          </a:prstGeom>
        </p:spPr>
      </p:pic>
    </p:spTree>
    <p:extLst>
      <p:ext uri="{BB962C8B-B14F-4D97-AF65-F5344CB8AC3E}">
        <p14:creationId xmlns:p14="http://schemas.microsoft.com/office/powerpoint/2010/main" val="2055658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CAEE9C-EE3F-96EF-37ED-C70231EF0C05}"/>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55C01129-3453-464D-A870-ED71C6E89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D2781A6-5C82-4764-B489-F9A599C0A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98833" y="685800"/>
            <a:ext cx="5004061" cy="5486400"/>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AB175D1-41BA-5AA0-DC0B-1F369F677EEE}"/>
              </a:ext>
            </a:extLst>
          </p:cNvPr>
          <p:cNvSpPr>
            <a:spLocks noGrp="1"/>
          </p:cNvSpPr>
          <p:nvPr>
            <p:ph type="title"/>
          </p:nvPr>
        </p:nvSpPr>
        <p:spPr>
          <a:xfrm>
            <a:off x="4086447" y="1084521"/>
            <a:ext cx="4019107" cy="1361347"/>
          </a:xfrm>
        </p:spPr>
        <p:txBody>
          <a:bodyPr anchor="b">
            <a:normAutofit/>
          </a:bodyPr>
          <a:lstStyle/>
          <a:p>
            <a:pPr algn="ctr"/>
            <a:r>
              <a:rPr lang="es-CL" sz="2800">
                <a:solidFill>
                  <a:schemeClr val="bg1">
                    <a:alpha val="60000"/>
                  </a:schemeClr>
                </a:solidFill>
              </a:rPr>
              <a:t>Resultados de la regresión</a:t>
            </a:r>
          </a:p>
        </p:txBody>
      </p:sp>
      <p:pic>
        <p:nvPicPr>
          <p:cNvPr id="7" name="Imagen 6">
            <a:extLst>
              <a:ext uri="{FF2B5EF4-FFF2-40B4-BE49-F238E27FC236}">
                <a16:creationId xmlns:a16="http://schemas.microsoft.com/office/drawing/2014/main" id="{3217A752-0583-74A3-379D-FD3D27522584}"/>
              </a:ext>
            </a:extLst>
          </p:cNvPr>
          <p:cNvPicPr>
            <a:picLocks noChangeAspect="1"/>
          </p:cNvPicPr>
          <p:nvPr/>
        </p:nvPicPr>
        <p:blipFill>
          <a:blip r:embed="rId2"/>
          <a:srcRect r="16843"/>
          <a:stretch>
            <a:fillRect/>
          </a:stretch>
        </p:blipFill>
        <p:spPr>
          <a:xfrm>
            <a:off x="680483" y="685795"/>
            <a:ext cx="2931299" cy="5486400"/>
          </a:xfrm>
          <a:prstGeom prst="rect">
            <a:avLst/>
          </a:prstGeom>
        </p:spPr>
      </p:pic>
      <p:sp>
        <p:nvSpPr>
          <p:cNvPr id="3" name="Marcador de contenido 2">
            <a:extLst>
              <a:ext uri="{FF2B5EF4-FFF2-40B4-BE49-F238E27FC236}">
                <a16:creationId xmlns:a16="http://schemas.microsoft.com/office/drawing/2014/main" id="{E3B0C16C-A897-8C35-3233-73FF3C8B2376}"/>
              </a:ext>
            </a:extLst>
          </p:cNvPr>
          <p:cNvSpPr>
            <a:spLocks noGrp="1"/>
          </p:cNvSpPr>
          <p:nvPr>
            <p:ph idx="1"/>
          </p:nvPr>
        </p:nvSpPr>
        <p:spPr>
          <a:xfrm>
            <a:off x="4107712" y="2732739"/>
            <a:ext cx="3976577" cy="3083270"/>
          </a:xfrm>
        </p:spPr>
        <p:txBody>
          <a:bodyPr anchor="t">
            <a:normAutofit/>
          </a:bodyPr>
          <a:lstStyle/>
          <a:p>
            <a:pPr algn="ctr"/>
            <a:r>
              <a:rPr lang="es-CL" sz="2000">
                <a:solidFill>
                  <a:schemeClr val="bg1"/>
                </a:solidFill>
              </a:rPr>
              <a:t>R² ajustado = 0.1517014</a:t>
            </a:r>
          </a:p>
          <a:p>
            <a:pPr algn="ctr"/>
            <a:r>
              <a:rPr lang="es-CL" sz="2000">
                <a:solidFill>
                  <a:schemeClr val="bg1"/>
                </a:solidFill>
              </a:rPr>
              <a:t> </a:t>
            </a:r>
            <a:r>
              <a:rPr lang="es-ES" sz="2000">
                <a:solidFill>
                  <a:schemeClr val="bg1"/>
                </a:solidFill>
              </a:rPr>
              <a:t>La transformación logarítmica reduce la influencia de valores extremos</a:t>
            </a:r>
          </a:p>
          <a:p>
            <a:pPr algn="ctr"/>
            <a:r>
              <a:rPr lang="es-ES" sz="2000">
                <a:solidFill>
                  <a:schemeClr val="bg1"/>
                </a:solidFill>
              </a:rPr>
              <a:t>El modelo captura la tendencia promedio del gasto</a:t>
            </a:r>
          </a:p>
          <a:p>
            <a:pPr marL="0" indent="0" algn="ctr">
              <a:buNone/>
            </a:pPr>
            <a:endParaRPr lang="es-CL" sz="2000">
              <a:solidFill>
                <a:schemeClr val="bg1"/>
              </a:solidFill>
            </a:endParaRPr>
          </a:p>
        </p:txBody>
      </p:sp>
      <p:pic>
        <p:nvPicPr>
          <p:cNvPr id="5" name="Imagen 4">
            <a:extLst>
              <a:ext uri="{FF2B5EF4-FFF2-40B4-BE49-F238E27FC236}">
                <a16:creationId xmlns:a16="http://schemas.microsoft.com/office/drawing/2014/main" id="{77748B59-9F9D-AAFA-4617-EA83A122C50E}"/>
              </a:ext>
            </a:extLst>
          </p:cNvPr>
          <p:cNvPicPr>
            <a:picLocks noChangeAspect="1"/>
          </p:cNvPicPr>
          <p:nvPr/>
        </p:nvPicPr>
        <p:blipFill>
          <a:blip r:embed="rId3"/>
          <a:srcRect l="2826" r="14752"/>
          <a:stretch>
            <a:fillRect/>
          </a:stretch>
        </p:blipFill>
        <p:spPr>
          <a:xfrm>
            <a:off x="8606117" y="685805"/>
            <a:ext cx="2905400" cy="5486399"/>
          </a:xfrm>
          <a:prstGeom prst="rect">
            <a:avLst/>
          </a:prstGeom>
        </p:spPr>
      </p:pic>
    </p:spTree>
    <p:extLst>
      <p:ext uri="{BB962C8B-B14F-4D97-AF65-F5344CB8AC3E}">
        <p14:creationId xmlns:p14="http://schemas.microsoft.com/office/powerpoint/2010/main" val="3064655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E79217-D758-B014-77FC-EC8301621133}"/>
              </a:ext>
            </a:extLst>
          </p:cNvPr>
          <p:cNvSpPr>
            <a:spLocks noGrp="1"/>
          </p:cNvSpPr>
          <p:nvPr>
            <p:ph type="title"/>
          </p:nvPr>
        </p:nvSpPr>
        <p:spPr/>
        <p:txBody>
          <a:bodyPr/>
          <a:lstStyle/>
          <a:p>
            <a:endParaRPr lang="es-CL"/>
          </a:p>
        </p:txBody>
      </p:sp>
      <p:sp>
        <p:nvSpPr>
          <p:cNvPr id="3" name="Marcador de contenido 2">
            <a:extLst>
              <a:ext uri="{FF2B5EF4-FFF2-40B4-BE49-F238E27FC236}">
                <a16:creationId xmlns:a16="http://schemas.microsoft.com/office/drawing/2014/main" id="{69D7C6B8-A7AF-0EF8-81E7-CEA8BC03D653}"/>
              </a:ext>
            </a:extLst>
          </p:cNvPr>
          <p:cNvSpPr>
            <a:spLocks noGrp="1"/>
          </p:cNvSpPr>
          <p:nvPr>
            <p:ph idx="1"/>
          </p:nvPr>
        </p:nvSpPr>
        <p:spPr/>
        <p:txBody>
          <a:bodyPr/>
          <a:lstStyle/>
          <a:p>
            <a:endParaRPr lang="es-CL"/>
          </a:p>
        </p:txBody>
      </p:sp>
      <p:pic>
        <p:nvPicPr>
          <p:cNvPr id="5" name="Imagen 4">
            <a:extLst>
              <a:ext uri="{FF2B5EF4-FFF2-40B4-BE49-F238E27FC236}">
                <a16:creationId xmlns:a16="http://schemas.microsoft.com/office/drawing/2014/main" id="{07223970-5FCD-92E0-24E7-340B0E1FEDCD}"/>
              </a:ext>
            </a:extLst>
          </p:cNvPr>
          <p:cNvPicPr>
            <a:picLocks noChangeAspect="1"/>
          </p:cNvPicPr>
          <p:nvPr/>
        </p:nvPicPr>
        <p:blipFill>
          <a:blip r:embed="rId2"/>
          <a:stretch>
            <a:fillRect/>
          </a:stretch>
        </p:blipFill>
        <p:spPr>
          <a:xfrm>
            <a:off x="2384576" y="542337"/>
            <a:ext cx="7422848" cy="5773326"/>
          </a:xfrm>
          <a:prstGeom prst="rect">
            <a:avLst/>
          </a:prstGeom>
        </p:spPr>
      </p:pic>
    </p:spTree>
    <p:extLst>
      <p:ext uri="{BB962C8B-B14F-4D97-AF65-F5344CB8AC3E}">
        <p14:creationId xmlns:p14="http://schemas.microsoft.com/office/powerpoint/2010/main" val="1572602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9E881A4-A468-403A-9941-F8FFD5C68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a:extLst>
              <a:ext uri="{FF2B5EF4-FFF2-40B4-BE49-F238E27FC236}">
                <a16:creationId xmlns:a16="http://schemas.microsoft.com/office/drawing/2014/main" id="{1D3AD17E-4881-8AEE-8871-2217B6EC01B2}"/>
              </a:ext>
            </a:extLst>
          </p:cNvPr>
          <p:cNvPicPr>
            <a:picLocks noChangeAspect="1"/>
          </p:cNvPicPr>
          <p:nvPr/>
        </p:nvPicPr>
        <p:blipFill>
          <a:blip r:embed="rId2"/>
          <a:stretch>
            <a:fillRect/>
          </a:stretch>
        </p:blipFill>
        <p:spPr>
          <a:xfrm>
            <a:off x="132347" y="1237910"/>
            <a:ext cx="4552053" cy="3539219"/>
          </a:xfrm>
          <a:prstGeom prst="rect">
            <a:avLst/>
          </a:prstGeom>
        </p:spPr>
      </p:pic>
      <p:sp>
        <p:nvSpPr>
          <p:cNvPr id="16" name="Rectangle 15">
            <a:extLst>
              <a:ext uri="{FF2B5EF4-FFF2-40B4-BE49-F238E27FC236}">
                <a16:creationId xmlns:a16="http://schemas.microsoft.com/office/drawing/2014/main" id="{6F168544-607B-491A-8601-3087D0FCE1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8703" y="1"/>
            <a:ext cx="7423298" cy="6858000"/>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sp>
        <p:nvSpPr>
          <p:cNvPr id="2" name="Título 1">
            <a:extLst>
              <a:ext uri="{FF2B5EF4-FFF2-40B4-BE49-F238E27FC236}">
                <a16:creationId xmlns:a16="http://schemas.microsoft.com/office/drawing/2014/main" id="{A81382B0-1729-EE6F-D84B-654828B5DB6F}"/>
              </a:ext>
            </a:extLst>
          </p:cNvPr>
          <p:cNvSpPr>
            <a:spLocks noGrp="1"/>
          </p:cNvSpPr>
          <p:nvPr>
            <p:ph type="title"/>
          </p:nvPr>
        </p:nvSpPr>
        <p:spPr>
          <a:xfrm>
            <a:off x="5646717" y="593398"/>
            <a:ext cx="5667269" cy="1289024"/>
          </a:xfrm>
        </p:spPr>
        <p:txBody>
          <a:bodyPr anchor="b">
            <a:normAutofit/>
          </a:bodyPr>
          <a:lstStyle/>
          <a:p>
            <a:pPr algn="ctr"/>
            <a:r>
              <a:rPr lang="es-ES" sz="3600" dirty="0">
                <a:solidFill>
                  <a:schemeClr val="bg1">
                    <a:alpha val="60000"/>
                  </a:schemeClr>
                </a:solidFill>
              </a:rPr>
              <a:t>Gasto esperado en comidas fuera del hogar</a:t>
            </a:r>
          </a:p>
        </p:txBody>
      </p:sp>
      <p:sp>
        <p:nvSpPr>
          <p:cNvPr id="3" name="Marcador de contenido 2">
            <a:extLst>
              <a:ext uri="{FF2B5EF4-FFF2-40B4-BE49-F238E27FC236}">
                <a16:creationId xmlns:a16="http://schemas.microsoft.com/office/drawing/2014/main" id="{FD2C5E42-B318-7FB9-6701-5312115E6D5C}"/>
              </a:ext>
            </a:extLst>
          </p:cNvPr>
          <p:cNvSpPr>
            <a:spLocks noGrp="1"/>
          </p:cNvSpPr>
          <p:nvPr>
            <p:ph idx="1"/>
          </p:nvPr>
        </p:nvSpPr>
        <p:spPr>
          <a:xfrm>
            <a:off x="5137484" y="2447337"/>
            <a:ext cx="6752963" cy="3539220"/>
          </a:xfrm>
        </p:spPr>
        <p:txBody>
          <a:bodyPr anchor="t">
            <a:normAutofit/>
          </a:bodyPr>
          <a:lstStyle/>
          <a:p>
            <a:pPr marL="0" indent="0" algn="ctr">
              <a:buNone/>
            </a:pPr>
            <a:r>
              <a:rPr lang="es-ES" sz="2000" b="1" i="1" dirty="0">
                <a:solidFill>
                  <a:schemeClr val="bg1"/>
                </a:solidFill>
              </a:rPr>
              <a:t>El gasto esperado sintetiza en una sola variable la probabilidad de que un hogar gaste y el monto que gastaría en caso de hacerlo.</a:t>
            </a:r>
          </a:p>
          <a:p>
            <a:pPr marL="0" indent="0" algn="ctr">
              <a:buNone/>
            </a:pPr>
            <a:endParaRPr lang="es-ES" sz="2000" b="1" i="1" dirty="0">
              <a:solidFill>
                <a:schemeClr val="bg1"/>
              </a:solidFill>
            </a:endParaRPr>
          </a:p>
          <a:p>
            <a:pPr marL="0" lvl="0" indent="0" eaLnBrk="0" fontAlgn="base" hangingPunct="0">
              <a:spcBef>
                <a:spcPct val="0"/>
              </a:spcBef>
              <a:spcAft>
                <a:spcPct val="0"/>
              </a:spcAft>
              <a:buFontTx/>
              <a:buChar char="•"/>
            </a:pPr>
            <a:r>
              <a:rPr lang="es-CL" altLang="es-CL" sz="2000" dirty="0">
                <a:solidFill>
                  <a:schemeClr val="bg1"/>
                </a:solidFill>
              </a:rPr>
              <a:t>El gasto esperado combina la probabilidad de gasto y el monto condicional</a:t>
            </a:r>
          </a:p>
          <a:p>
            <a:pPr marL="0" lvl="0" indent="0" eaLnBrk="0" fontAlgn="base" hangingPunct="0">
              <a:spcBef>
                <a:spcPct val="0"/>
              </a:spcBef>
              <a:spcAft>
                <a:spcPct val="0"/>
              </a:spcAft>
              <a:buFontTx/>
              <a:buChar char="•"/>
            </a:pPr>
            <a:r>
              <a:rPr lang="es-CL" altLang="es-CL" sz="2000" dirty="0">
                <a:solidFill>
                  <a:schemeClr val="bg1"/>
                </a:solidFill>
              </a:rPr>
              <a:t>Permite asignar un gasto continuo a todos los hogares</a:t>
            </a:r>
          </a:p>
          <a:p>
            <a:pPr marL="0" lvl="0" indent="0" eaLnBrk="0" fontAlgn="base" hangingPunct="0">
              <a:spcBef>
                <a:spcPct val="0"/>
              </a:spcBef>
              <a:spcAft>
                <a:spcPct val="0"/>
              </a:spcAft>
              <a:buFontTx/>
              <a:buChar char="•"/>
            </a:pPr>
            <a:r>
              <a:rPr lang="es-CL" altLang="es-CL" sz="2000" dirty="0">
                <a:solidFill>
                  <a:schemeClr val="bg1"/>
                </a:solidFill>
              </a:rPr>
              <a:t>Constituye la base para la imputación en CASEN 2022</a:t>
            </a:r>
          </a:p>
          <a:p>
            <a:pPr marL="0" indent="0">
              <a:buNone/>
            </a:pPr>
            <a:endParaRPr lang="es-CL" sz="2000" b="1" i="1" dirty="0">
              <a:solidFill>
                <a:schemeClr val="bg1"/>
              </a:solidFill>
            </a:endParaRPr>
          </a:p>
        </p:txBody>
      </p:sp>
      <p:sp>
        <p:nvSpPr>
          <p:cNvPr id="5" name="CuadroTexto 4">
            <a:extLst>
              <a:ext uri="{FF2B5EF4-FFF2-40B4-BE49-F238E27FC236}">
                <a16:creationId xmlns:a16="http://schemas.microsoft.com/office/drawing/2014/main" id="{65DADF78-2A74-4452-E9E5-91947A52B11B}"/>
              </a:ext>
            </a:extLst>
          </p:cNvPr>
          <p:cNvSpPr txBox="1"/>
          <p:nvPr/>
        </p:nvSpPr>
        <p:spPr>
          <a:xfrm>
            <a:off x="301552" y="4974251"/>
            <a:ext cx="4165600" cy="749216"/>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rtlCol="0">
            <a:noAutofit/>
          </a:bodyPr>
          <a:lstStyle/>
          <a:p>
            <a:pPr algn="ctr" latinLnBrk="1">
              <a:spcAft>
                <a:spcPts val="600"/>
              </a:spcAft>
            </a:pPr>
            <a:r>
              <a:rPr lang="es-CL" sz="1600" b="1" dirty="0">
                <a:solidFill>
                  <a:srgbClr val="FFFFFF"/>
                </a:solidFill>
              </a:rPr>
              <a:t>Promedio</a:t>
            </a:r>
            <a:r>
              <a:rPr lang="es-CL" sz="1600" dirty="0">
                <a:solidFill>
                  <a:srgbClr val="FFFFFF"/>
                </a:solidFill>
              </a:rPr>
              <a:t>: $34.882,14 </a:t>
            </a:r>
            <a:r>
              <a:rPr lang="es-CL" sz="1600" b="1" dirty="0">
                <a:solidFill>
                  <a:srgbClr val="FFFFFF"/>
                </a:solidFill>
              </a:rPr>
              <a:t>Mediana</a:t>
            </a:r>
            <a:r>
              <a:rPr lang="es-CL" sz="1600" dirty="0">
                <a:solidFill>
                  <a:srgbClr val="FFFFFF"/>
                </a:solidFill>
              </a:rPr>
              <a:t>: $25.109,96 </a:t>
            </a:r>
          </a:p>
          <a:p>
            <a:pPr algn="ctr" latinLnBrk="1">
              <a:spcAft>
                <a:spcPts val="600"/>
              </a:spcAft>
            </a:pPr>
            <a:r>
              <a:rPr lang="es-CL" sz="1600" b="1" dirty="0">
                <a:solidFill>
                  <a:srgbClr val="FFFFFF"/>
                </a:solidFill>
              </a:rPr>
              <a:t>P25–P75</a:t>
            </a:r>
            <a:r>
              <a:rPr lang="es-CL" sz="1600" dirty="0">
                <a:solidFill>
                  <a:srgbClr val="FFFFFF"/>
                </a:solidFill>
              </a:rPr>
              <a:t>: $12.962,52 – $47.318,41 </a:t>
            </a:r>
          </a:p>
          <a:p>
            <a:pPr algn="ctr">
              <a:spcAft>
                <a:spcPts val="600"/>
              </a:spcAft>
            </a:pPr>
            <a:endParaRPr lang="es-CL" sz="1600" dirty="0">
              <a:solidFill>
                <a:srgbClr val="FFFFFF"/>
              </a:solidFill>
            </a:endParaRPr>
          </a:p>
        </p:txBody>
      </p:sp>
    </p:spTree>
    <p:extLst>
      <p:ext uri="{BB962C8B-B14F-4D97-AF65-F5344CB8AC3E}">
        <p14:creationId xmlns:p14="http://schemas.microsoft.com/office/powerpoint/2010/main" val="15746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594C6-9461-60E2-1EBE-403D99C90AC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CD4C000-D109-6A51-7B9F-371B6DC617F6}"/>
              </a:ext>
            </a:extLst>
          </p:cNvPr>
          <p:cNvSpPr>
            <a:spLocks noGrp="1"/>
          </p:cNvSpPr>
          <p:nvPr>
            <p:ph type="title"/>
          </p:nvPr>
        </p:nvSpPr>
        <p:spPr/>
        <p:txBody>
          <a:bodyPr/>
          <a:lstStyle/>
          <a:p>
            <a:pPr algn="ctr"/>
            <a:r>
              <a:rPr lang="es-CL" dirty="0"/>
              <a:t>Conclusiones</a:t>
            </a:r>
          </a:p>
        </p:txBody>
      </p:sp>
      <p:sp>
        <p:nvSpPr>
          <p:cNvPr id="3" name="Marcador de contenido 2">
            <a:extLst>
              <a:ext uri="{FF2B5EF4-FFF2-40B4-BE49-F238E27FC236}">
                <a16:creationId xmlns:a16="http://schemas.microsoft.com/office/drawing/2014/main" id="{4B0E2560-914A-96C5-2F04-7AAE81293EFA}"/>
              </a:ext>
            </a:extLst>
          </p:cNvPr>
          <p:cNvSpPr>
            <a:spLocks noGrp="1"/>
          </p:cNvSpPr>
          <p:nvPr>
            <p:ph idx="1"/>
          </p:nvPr>
        </p:nvSpPr>
        <p:spPr/>
        <p:txBody>
          <a:bodyPr>
            <a:normAutofit lnSpcReduction="10000"/>
          </a:bodyPr>
          <a:lstStyle/>
          <a:p>
            <a:r>
              <a:rPr lang="es-CL" dirty="0"/>
              <a:t>El gasto en comidas fuera del hogar tiene alta proporción de hogares sin gasto y alta heterogeneidad entre los valores observados</a:t>
            </a:r>
          </a:p>
          <a:p>
            <a:r>
              <a:rPr lang="es-CL" dirty="0"/>
              <a:t>El análisis exploratorio ayudó a evidenciar la asimetría en los gastos, por lo que se justifica el uso del modelo de dos partes</a:t>
            </a:r>
          </a:p>
          <a:p>
            <a:r>
              <a:rPr lang="es-CL" dirty="0"/>
              <a:t>El modelo </a:t>
            </a:r>
            <a:r>
              <a:rPr lang="es-CL" dirty="0" err="1"/>
              <a:t>Logit</a:t>
            </a:r>
            <a:r>
              <a:rPr lang="es-CL" dirty="0"/>
              <a:t> mostró una buena capacidad para discriminar</a:t>
            </a:r>
          </a:p>
          <a:p>
            <a:r>
              <a:rPr lang="es-CL" dirty="0"/>
              <a:t>La regresión explicó en buena parte el gasto, a pesar de la gran variabilidad</a:t>
            </a:r>
          </a:p>
          <a:p>
            <a:r>
              <a:rPr lang="es-CL" dirty="0"/>
              <a:t>Las variables socioeconómicas seleccionadas junto con ambos modelos ayudó a construir una variable de </a:t>
            </a:r>
            <a:r>
              <a:rPr lang="es-CL" b="1" dirty="0"/>
              <a:t>gasto esperado </a:t>
            </a:r>
            <a:r>
              <a:rPr lang="es-CL" dirty="0"/>
              <a:t>la cual se imputará con la base CASEN para el futuro análisis territorial</a:t>
            </a:r>
          </a:p>
        </p:txBody>
      </p:sp>
    </p:spTree>
    <p:extLst>
      <p:ext uri="{BB962C8B-B14F-4D97-AF65-F5344CB8AC3E}">
        <p14:creationId xmlns:p14="http://schemas.microsoft.com/office/powerpoint/2010/main" val="4101918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8A76FDA-EC08-D4FD-530D-CAD767B903F6}"/>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592E1628-2DFC-873B-8357-AFA86AF49307}"/>
              </a:ext>
            </a:extLst>
          </p:cNvPr>
          <p:cNvSpPr/>
          <p:nvPr/>
        </p:nvSpPr>
        <p:spPr>
          <a:xfrm>
            <a:off x="519826" y="3653590"/>
            <a:ext cx="11152348" cy="584775"/>
          </a:xfrm>
          <a:prstGeom prst="rect">
            <a:avLst/>
          </a:prstGeom>
          <a:noFill/>
        </p:spPr>
        <p:txBody>
          <a:bodyPr wrap="none" lIns="91440" tIns="45720" rIns="91440" bIns="45720">
            <a:spAutoFit/>
          </a:bodyPr>
          <a:lstStyle/>
          <a:p>
            <a:pPr algn="ctr"/>
            <a:r>
              <a:rPr lang="es-ES" sz="3200" b="0" cap="none" spc="0" dirty="0">
                <a:ln w="0"/>
                <a:solidFill>
                  <a:schemeClr val="tx1"/>
                </a:solidFill>
                <a:effectLst>
                  <a:outerShdw blurRad="38100" dist="19050" dir="2700000" algn="tl" rotWithShape="0">
                    <a:schemeClr val="dk1">
                      <a:alpha val="40000"/>
                    </a:schemeClr>
                  </a:outerShdw>
                </a:effectLst>
              </a:rPr>
              <a:t>Tarea 2 - </a:t>
            </a:r>
            <a:r>
              <a:rPr lang="es-ES" sz="3200" dirty="0"/>
              <a:t>Estimación de gasto potencial con modelo de dos partes </a:t>
            </a:r>
            <a:endParaRPr lang="es-ES" sz="3200" b="0" cap="none" spc="0" dirty="0">
              <a:ln w="0"/>
              <a:solidFill>
                <a:schemeClr val="tx1"/>
              </a:solidFill>
              <a:effectLst>
                <a:outerShdw blurRad="38100" dist="19050" dir="2700000" algn="tl" rotWithShape="0">
                  <a:schemeClr val="dk1">
                    <a:alpha val="40000"/>
                  </a:schemeClr>
                </a:outerShdw>
              </a:effectLst>
            </a:endParaRPr>
          </a:p>
        </p:txBody>
      </p:sp>
      <p:sp>
        <p:nvSpPr>
          <p:cNvPr id="3" name="CuadroTexto 2">
            <a:extLst>
              <a:ext uri="{FF2B5EF4-FFF2-40B4-BE49-F238E27FC236}">
                <a16:creationId xmlns:a16="http://schemas.microsoft.com/office/drawing/2014/main" id="{CAD6ED54-E3A8-1432-38D5-18438E253F2D}"/>
              </a:ext>
            </a:extLst>
          </p:cNvPr>
          <p:cNvSpPr txBox="1"/>
          <p:nvPr/>
        </p:nvSpPr>
        <p:spPr>
          <a:xfrm>
            <a:off x="3429000" y="4381500"/>
            <a:ext cx="5334000" cy="1200329"/>
          </a:xfrm>
          <a:prstGeom prst="rect">
            <a:avLst/>
          </a:prstGeom>
          <a:noFill/>
        </p:spPr>
        <p:txBody>
          <a:bodyPr wrap="square" rtlCol="0">
            <a:spAutoFit/>
          </a:bodyPr>
          <a:lstStyle/>
          <a:p>
            <a:pPr algn="ctr"/>
            <a:r>
              <a:rPr lang="es-CL" dirty="0"/>
              <a:t>Alumno: Nicolás Santibáñez Reyes</a:t>
            </a:r>
          </a:p>
          <a:p>
            <a:pPr algn="ctr"/>
            <a:r>
              <a:rPr lang="es-CL" dirty="0"/>
              <a:t>Asignatura: Geomarketing/IDG</a:t>
            </a:r>
          </a:p>
          <a:p>
            <a:pPr algn="ctr"/>
            <a:r>
              <a:rPr lang="es-CL" dirty="0"/>
              <a:t>Profesor: Matías Escudero Bell</a:t>
            </a:r>
          </a:p>
          <a:p>
            <a:pPr algn="ctr"/>
            <a:r>
              <a:rPr lang="es-CL" dirty="0"/>
              <a:t>Ayudante: Ariela Díaz Santander</a:t>
            </a:r>
          </a:p>
        </p:txBody>
      </p:sp>
    </p:spTree>
    <p:extLst>
      <p:ext uri="{BB962C8B-B14F-4D97-AF65-F5344CB8AC3E}">
        <p14:creationId xmlns:p14="http://schemas.microsoft.com/office/powerpoint/2010/main" val="3862885550"/>
      </p:ext>
    </p:extLst>
  </p:cSld>
  <p:clrMapOvr>
    <a:masterClrMapping/>
  </p:clrMapOvr>
</p:sld>
</file>

<file path=ppt/theme/theme1.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TotalTime>
  <Words>881</Words>
  <Application>Microsoft Office PowerPoint</Application>
  <PresentationFormat>Panorámica</PresentationFormat>
  <Paragraphs>92</Paragraphs>
  <Slides>19</Slides>
  <Notes>0</Notes>
  <HiddenSlides>0</HiddenSlides>
  <MMClips>0</MMClips>
  <ScaleCrop>false</ScaleCrop>
  <HeadingPairs>
    <vt:vector size="8" baseType="variant">
      <vt:variant>
        <vt:lpstr>Fuentes usadas</vt:lpstr>
      </vt:variant>
      <vt:variant>
        <vt:i4>4</vt:i4>
      </vt:variant>
      <vt:variant>
        <vt:lpstr>Tema</vt:lpstr>
      </vt:variant>
      <vt:variant>
        <vt:i4>2</vt:i4>
      </vt:variant>
      <vt:variant>
        <vt:lpstr>Servidores OLE incrustados</vt:lpstr>
      </vt:variant>
      <vt:variant>
        <vt:i4>1</vt:i4>
      </vt:variant>
      <vt:variant>
        <vt:lpstr>Títulos de diapositiva</vt:lpstr>
      </vt:variant>
      <vt:variant>
        <vt:i4>19</vt:i4>
      </vt:variant>
    </vt:vector>
  </HeadingPairs>
  <TitlesOfParts>
    <vt:vector size="26" baseType="lpstr">
      <vt:lpstr>Arial</vt:lpstr>
      <vt:lpstr>Calibri</vt:lpstr>
      <vt:lpstr>Calibri Light</vt:lpstr>
      <vt:lpstr>Times New Roman</vt:lpstr>
      <vt:lpstr>1_Tema de Office</vt:lpstr>
      <vt:lpstr>2_Tema de Office</vt:lpstr>
      <vt:lpstr>Worksheet</vt:lpstr>
      <vt:lpstr>Presentación de PowerPoint</vt:lpstr>
      <vt:lpstr>Presentación de PowerPoint</vt:lpstr>
      <vt:lpstr>Introducción</vt:lpstr>
      <vt:lpstr>Servicio: Gastos en comida fuera de casa</vt:lpstr>
      <vt:lpstr>¿Por qué se selecciono este servicio?</vt:lpstr>
      <vt:lpstr>Datos base: EPF + CASEN</vt:lpstr>
      <vt:lpstr>Construcción de la variable</vt:lpstr>
      <vt:lpstr>Códigos CCIF utilizados</vt:lpstr>
      <vt:lpstr>Construcción de la variable</vt:lpstr>
      <vt:lpstr>¿Por qué se usa un modelo de dos partes?</vt:lpstr>
      <vt:lpstr>Estadísticas de variable construida</vt:lpstr>
      <vt:lpstr>Esquema de modelo de 2 partes</vt:lpstr>
      <vt:lpstr>Presentación de PowerPoint</vt:lpstr>
      <vt:lpstr>Modelo LOGIT</vt:lpstr>
      <vt:lpstr>Resultados de la regresión</vt:lpstr>
      <vt:lpstr>Presentación de PowerPoint</vt:lpstr>
      <vt:lpstr>Gasto esperado en comidas fuera del hogar</vt:lpstr>
      <vt:lpstr>Conclusiones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Daniel Rodriguez</dc:creator>
  <cp:lastModifiedBy>Nicolas Santibañez Reyes</cp:lastModifiedBy>
  <cp:revision>13</cp:revision>
  <dcterms:created xsi:type="dcterms:W3CDTF">2022-08-26T15:29:11Z</dcterms:created>
  <dcterms:modified xsi:type="dcterms:W3CDTF">2025-12-19T06:35:11Z</dcterms:modified>
</cp:coreProperties>
</file>